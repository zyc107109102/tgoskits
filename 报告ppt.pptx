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 Linux 的倍数</c:v>
                </c:pt>
              </c:strCache>
            </c:strRef>
          </c:tx>
          <c:spPr>
            <a:solidFill>
              <a:srgbClr val="99F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9F6E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9F6E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EEAD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EEA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B8A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用户态编码</c:v>
                  </c:pt>
                  <c:pt idx="1">
                    <c:v>Weston 分派</c:v>
                  </c:pt>
                  <c:pt idx="2">
                    <c:v>唤醒/调度</c:v>
                  </c:pt>
                  <c:pt idx="3">
                    <c:v>GPU ioctl</c:v>
                  </c:pt>
                  <c:pt idx="4">
                    <c:v>辅助轮次</c:v>
                  </c:pt>
                  <c:pt idx="5">
                    <c:v>Wayland socket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</c:v>
                </c:pt>
                <c:pt idx="1">
                  <c:v>4</c:v>
                </c:pt>
                <c:pt idx="2">
                  <c:v>5.9</c:v>
                </c:pt>
                <c:pt idx="3">
                  <c:v>6.5</c:v>
                </c:pt>
                <c:pt idx="4">
                  <c:v>10.9</c:v>
                </c:pt>
                <c:pt idx="5">
                  <c:v>52.9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StarryOS(混合口径)</c:v>
                </c:pt>
              </c:strCache>
            </c:strRef>
          </c:tx>
          <c:spPr>
            <a:solidFill>
              <a:srgbClr val="0F766E"/>
            </a:solidFill>
            <a:ln w="31750" cap="flat">
              <a:solidFill>
                <a:srgbClr val="0F766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766E"/>
              </a:solidFill>
              <a:ln w="9525" cap="flat">
                <a:solidFill>
                  <a:srgbClr val="0F76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初跑</c:v>
                  </c:pt>
                  <c:pt idx="1">
                    <c:v>FENCE</c:v>
                  </c:pt>
                  <c:pt idx="2">
                    <c:v>attach</c:v>
                  </c:pt>
                  <c:pt idx="3">
                    <c:v>全异步</c:v>
                  </c:pt>
                  <c:pt idx="4">
                    <c:v>kick</c:v>
                  </c:pt>
                  <c:pt idx="5">
                    <c:v>fencefd</c:v>
                  </c:pt>
                  <c:pt idx="6">
                    <c:v>IRQ</c:v>
                  </c:pt>
                  <c:pt idx="7">
                    <c:v>epoll</c:v>
                  </c:pt>
                  <c:pt idx="8">
                    <c:v>噪音</c:v>
                  </c:pt>
                  <c:pt idx="9">
                    <c:v>rebase</c:v>
                  </c:pt>
                  <c:pt idx="10">
                    <c:v>fenceRT</c:v>
                  </c:pt>
                  <c:pt idx="11">
                    <c:v>合入</c:v>
                  </c:pt>
                  <c:pt idx="12">
                    <c:v>锁外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69</c:v>
                </c:pt>
                <c:pt idx="1">
                  <c:v>405</c:v>
                </c:pt>
                <c:pt idx="2">
                  <c:v>406</c:v>
                </c:pt>
                <c:pt idx="3">
                  <c:v>439</c:v>
                </c:pt>
                <c:pt idx="4">
                  <c:v>539</c:v>
                </c:pt>
                <c:pt idx="5">
                  <c:v>637</c:v>
                </c:pt>
                <c:pt idx="6">
                  <c:v>1141</c:v>
                </c:pt>
                <c:pt idx="7">
                  <c:v>813</c:v>
                </c:pt>
                <c:pt idx="8">
                  <c:v>924</c:v>
                </c:pt>
                <c:pt idx="9">
                  <c:v>1423</c:v>
                </c:pt>
                <c:pt idx="10">
                  <c:v>2461</c:v>
                </c:pt>
                <c:pt idx="11">
                  <c:v>3040</c:v>
                </c:pt>
                <c:pt idx="12">
                  <c:v>2813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同机 Linux 参考线</c:v>
                </c:pt>
              </c:strCache>
            </c:strRef>
          </c:tx>
          <c:spPr>
            <a:solidFill>
              <a:srgbClr val="94A3B8"/>
            </a:solidFill>
            <a:ln w="31750" cap="flat">
              <a:solidFill>
                <a:srgbClr val="94A3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4A3B8"/>
              </a:solidFill>
              <a:ln w="9525" cap="flat">
                <a:solidFill>
                  <a:srgbClr val="94A3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初跑</c:v>
                  </c:pt>
                  <c:pt idx="1">
                    <c:v>FENCE</c:v>
                  </c:pt>
                  <c:pt idx="2">
                    <c:v>attach</c:v>
                  </c:pt>
                  <c:pt idx="3">
                    <c:v>全异步</c:v>
                  </c:pt>
                  <c:pt idx="4">
                    <c:v>kick</c:v>
                  </c:pt>
                  <c:pt idx="5">
                    <c:v>fencefd</c:v>
                  </c:pt>
                  <c:pt idx="6">
                    <c:v>IRQ</c:v>
                  </c:pt>
                  <c:pt idx="7">
                    <c:v>epoll</c:v>
                  </c:pt>
                  <c:pt idx="8">
                    <c:v>噪音</c:v>
                  </c:pt>
                  <c:pt idx="9">
                    <c:v>rebase</c:v>
                  </c:pt>
                  <c:pt idx="10">
                    <c:v>fenceRT</c:v>
                  </c:pt>
                  <c:pt idx="11">
                    <c:v>合入</c:v>
                  </c:pt>
                  <c:pt idx="12">
                    <c:v>锁外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6900</c:v>
                </c:pt>
                <c:pt idx="1">
                  <c:v>6900</c:v>
                </c:pt>
                <c:pt idx="2">
                  <c:v>6900</c:v>
                </c:pt>
                <c:pt idx="3">
                  <c:v>6900</c:v>
                </c:pt>
                <c:pt idx="4">
                  <c:v>6900</c:v>
                </c:pt>
                <c:pt idx="5">
                  <c:v>6900</c:v>
                </c:pt>
                <c:pt idx="6">
                  <c:v>6900</c:v>
                </c:pt>
                <c:pt idx="7">
                  <c:v>6900</c:v>
                </c:pt>
                <c:pt idx="8">
                  <c:v>6900</c:v>
                </c:pt>
                <c:pt idx="9">
                  <c:v>6900</c:v>
                </c:pt>
                <c:pt idx="10">
                  <c:v>6900</c:v>
                </c:pt>
                <c:pt idx="11">
                  <c:v>6900</c:v>
                </c:pt>
                <c:pt idx="12">
                  <c:v>6900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4748B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93B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 秒】各位老师好,我汇报今年 7 月到 10 月在 rcore-os 社区的实习工作:给 StarryOS 实现 virgl 虚拟化 GPU 3D 加速,并把它做到接近同机 Linux 虚拟机的性能。整个工作可以浓缩成一句话——从「GPU 不支持」,到 Weston + glmark2 完整跑通 33 个场景、3000 分上下。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 秒】先给结论。功能上,StarryOS 的 Mesa 用户态一行没改,渲染器识别为 virgl,渲染发生在宿主机真实 GPU 上。性能上,glmark2 总分从第一次跑通的 69 分提升到 3000 分上下,渲染循环帧时间从 2.17 毫秒压到 0.33 毫秒。工程上,向两个仓库提交了 7 个拉取请求,6 个已合入主线,剩 1 个在上游 virtio-drivers 开放。正确性上,guest 侧三类会整机冻结的结构性缺陷被根除,重场景 10 轮浸泡测试零冻结。接下来按「怎么做到的」展开。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 秒】动手前先造标尺。同一个 QEMU 宿主机,先跑 Alpine Linux 虚拟机做参照,再保持其它变量完全一致、只把内核换成 StarryOS。结论有两条:硬件加速对图形场景是数量级的收益;两侧用户态完全相同,差距全部来自内核侧。从此以后所有性能结论都遵守一条纪律——同机、同用户态、唯一变量、背靠背 A/B。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【60 秒】这是最终落地的软件栈,自上而下五层:内核 DRM 层 card0 实现 Linux 同款 VIRTGPU ioctl;axgpu 门面提供锁外等待原语;rdif-gpu 用 VirglOps trait 定义驱动合同;ax-driver 做平台适配;最底层是 virtio-gpu 驱动的异步控制队列。命令经 virtqueue 发给 QEMU,virglrenderer 翻译成宿主 GL 调用,真实 GPU 渲染。理解性能问题的钥匙是「一帧的生命周期」:从应用画一帧,到 Mesa 编码成命令流,到 EXECBUFFER 提交,到宿主渲染完成、fence 通知回来、最后上屏。所有优化就是两个方向:减少每个环节的固定开销,以及让 guest 和宿主的活重叠起来。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【60 秒】性能战役的纲是这一页。改造前上游驱动是全同步的:每条命令入队、kick、自旋等宿主应答,其中提交命令要一直阻塞到渲染完成——宿主干活的时候 guest 完全空转。目标形态对齐 Linux:热路径命令 fire-and-forget 入队即返回,唯一保留的等待是 fence。这样帧时间就变成两者的最大值,流水线重叠起来。但请记住一个伏笔:只把「看得见」的同步点异步化,实测反而更慢——真正的工作是把每帧隐藏的同步点全部数出来。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【60 秒】第一阶段打通功能。参照物是 Linux 内核 virtio 驱动、virtio_gpu 头文件和 Mesa 的 virgl 协议定义;然后在 virtio-drivers 里扩展 3D 命令面,向上经接口层、OS 模块层封装,在内核实现 11 个 VIRTGPU ioctl。三类典型问题:一是 Mesa 不认卡:sysfs 驱动名、renderD128 节点、ioctl 结构体布局、GETPARAM 的指针语义,四处和 Linux 失配,逐一修正后渲染器才识别为 virgl。二是黑屏:渲染其实已经在宿主 GPU 上发生了,但 present 路径只会拷 guest 内存——把 framebuffer 按来源分成 dumb 和 Gpu3d 两类,后者走 set_scanout 让宿主零拷贝上屏。到第 5 周,glmark2 完整出分,比计划提前了两周。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【40 秒】第二阶段是性能战役,先讲方法。每个优化都走同一个循环:提出猜想,设计能证伪它的实验,修改,同机 A/B,数据裁决保留还是回滚。归因不靠猜,靠一套逐步建起来的测量资产。还有一条昂贵换来的纪律:串口日志每行大约是一百 FPS 级的开销,任何测量必须先关日志。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【75 秒】第一刀砍向最显眼的同步点,结果失败了:只异步化提交和上屏,反而从 405 掉到 362、357。这个失败是关键线索——异步机器没问题,是没打中。把每帧的同步点全部数了一遍:还有 47 个同步往返藏在资源创建、挂载、销毁、上传里。用 QEMU tracepoint 数命令:每帧资源挂载 36.5 次,而 Linux 是 0。根因在我自己的 DRM 层,EXECBUFFER 每次提交都对每个缓冲重新挂载;讽刺的是代码里本来有个 attached 标志想记录这件事,但它是个死字段,5 处写、0 处读。对照 Linux 修成每个上下文每资源只挂一次,406 分;再把剩余 18 个同步往返全部 fire-and-forget,439 分。到这里每帧同步往返清零,收益和移除的往返数严格线性。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【75 秒】接着是三个看不见的浪费。第一,kick:每个 kick 是一次 VM-exit,照 Linux 的做法把合并单位从「命令条数」改成「一次系统调用」,ioctl 单价降到 35 微秒。第二,fence:发现每帧凭空多出一个 8×1 像素的小资源,LD_PRELOAD 加反汇编追到 Mesa 源码——它认为我的驱动不支持 fence-fd,退化到 legacy 模式;根因是版本协商里 minor 号写成了 0。实现真实 fence 语义后,Mesa 侧的假资源归零。第三,两个自己造的循环:PollSet 环形替换加上从不注销的 waker,变成「唤醒上一个自己」的无限自循环;再加 refresher、串口、网卡三处毫秒级轮询噪音。修掉之后 texture 从 500 上下走到 924。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【60 秒】瀑布插桩带来一个重要修正:系统里其实是两条循环——渲染循环每秒约 900 次,合成循环只有 88 次,以前混成一条「帧」算账,账本是错的。重测后的账本:差距 5.8 倍,最大单项是 Wayland socket 系统调用,370 微秒,52.9 倍;用户态编码两边完全相同,80 微秒,这是物理地板。三方微基准把差距分解成三层:syscall 入口税 7.9 倍,socket 本体 24.8 倍,唤醒调度 21 倍。结论:等待已经没有浪费,剩余差距全是单价问题——超出 GPU 驱动范围,列入后续工作。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【60 秒】九月中段插了个硬仗:上游把调度、内存、CPU 三大底座全部重构,分支逐块 rebase。编译通过后 3D 初始化却失败了,命令合法、宿主也收到。七项假设逐项证伪后,靠一个不经过我任何代码的纯 upstream 对照实验锁定差异点:我 fork 里的零拷贝把调用者栈借给设备 DMA,而新底座的任务栈是 vmap 的,不在线性映射窗口,线性偏移公式算出的物理地址实际指向用户代码页——QEMU 直接读内存取证实锤。这个故事有后续:逐页查页表的修复后来演化成更简单的终态——异步热路径把命令全部拷进驱动自有、地址稳定的 arena,问题在结构上消失;仅存的零拷贝同步路径只剩初始化查询,把「必须传分配器内存」写进了代码契约。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 秒】新底座上的账本显示,差距不再分散而是高度集中:宿主已完成的 fence,要等下一个 1 毫秒的轮询节拍才被通知,满载下还被拖到 1.6 毫秒——41 倍延迟就是这么来的,Linux 走的是中断即时路径。先把完成改成实时线程即时通知做验证:texture 提升 71% 到 81%,总分进 2400 档。方向确认后,完整的事件化和等待结构改造进入下一阶段的工程化。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【60 秒】第三阶段把实验版变成可合入的工程。异步控制队列的难点不在发出去,而在各种组合下不死锁、不丢命令:kick 策略取「阈值判定加事件去重」的折中;同步命令和异步命令同队列共存;DMA 命令字节住进固定 arena。33 场景 A/B 平均提升 24.6%。主线合入分两步:先合入语义正确的同步版,再在新栈重构之后把异步语义作为增量重放,合入后 33 场景完整跑完 3040 分。期间还抓到一个规格级正确性缺陷:virtio 环绕点跨过 65536 之后,kick 判定恒为假,宿主从此收不到任何通知;修复是边界 kick 恒发 MMIO,同机 A/B 提升 57%。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【75 秒】最后一块结构性改造。此前三次 guest 冻结事故有一个共同根源:等待者在全局设备锁的临界区里自旋,而等待者持有的锁,正是完成泵推进水位所需要的锁。对照 Linux:整个驱动只有四个阻塞点,全部是睡眠等待;它永不卡死的结构性事实是,完成推进所需的资源和任何等待者持有的资源交集为空。两个形态修正都是 A/B 逼出来的:计划原稿的「全队列排空等待」被持续提交饿死,只有 2123 分,撤掉唤醒补全更是 54 分;改成等待本对象的 fence,FIFO 排序保证饥饿在数学上不可能。纯睡眠在 QEMU 同步处理 kick 的现实下每帧付一次唤醒跳,所以最终是「锁间有界探测 + 锁外睡眠」。终态 2813 分,逐场景无一劣化,两轮审查 7 条意见全部修复,10 月 2 日合入主线。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 秒】正确性单独汇报。此前三类冻结形态各不相同,结构性原因都是无界等待;现在所有等待都有界。中间还有个诚实的负面结果:想用滑动窗口限制流水线深度来规避宿主侧丢完成,K=3 被实测证伪——多客户端下在飞深度常态大于 3,套件慢了 4 倍,这条路判死,实验数据留分支存证。终态是重场景 10 轮浸泡 50 个场景退出码全零、零冻结;宿主侧那个 QEMU 侧的丢完成问题,现在表现为有界失败加恢复,不再永久卡住。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 秒】换个视角看代码留下的形状。GPU 栈按仓库分层约定切分:协议与队列在可复用包里,no_std 加 alloc,不依赖任何 OS;跨层服务走 axklib 的 trait 合同,由运行时注入实现;错误域在组件边界显式翻译成 Linux errno。这些边界不是形式:同一份驱动跑着纯 2D 的 CI 配置和无 GPU 配置,也让三次大规模上游重构的迁移成本收敛在少数几个文件里。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【45 秒】汇总成果。轨迹图上有两个跳变要说明:rebase 新底座那跳来自上游调度和内存改进本身;3040 和 2813 的差异主要是宿主状态与场景组成的波动,后者的意义在稳定性而非分数。提交记录:两个仓库 7 个拉取请求,6 个已合入——包括 virtio-drivers 的 3D 支持、主线上的同步版、异步加真 fence、以及刚合入的锁外等待改造;开放的 1 个是上游 crate 的异步控制队列,语义已随主线进入 tgoskits。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【40 秒】如实声明边界。性能还剩约两倍差距,账本写得很清楚:主战场已经不在 GPU 驱动,是 syscall 入口税和 socket 单价这两个内核级问题,需要单独立项。稳定性上还有两轮更大的浸泡没跑,Phase 3 的两个决策项等这份数据触发。宿主侧丢完成是 QEMU 和 virglrenderer 的交互问题,任何 guest 侧改造都防不住,现在靠有界等待兜底。其它架构的验证由 CI 覆盖。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【30 秒】总结三点方法论。第一,先造标尺——没有 Alpine 对照和 A/B 纪律,后面每个百分比都无从谈起。第二,每个结论都要有反事实实验——异步化失败、K=3 证伪、kick 假设证伪,这些失败的数据和成功修复同样重要。第三,性能问题的真相几乎总不在最初怀疑的地方。剩下的一半差距账本已经写清在哪里,那是下一阶段的地图。谢谢大家,欢迎提问。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rcore-os · TGOSKits 开源社区实习汇报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1783080"/>
            <a:ext cx="11247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 StarryOS 上实现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虚拟化 GPU 3D 加速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从「GPU 不支持」到 3000 分:virgl 驱动实现与性能优化全记录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4343400"/>
            <a:ext cx="3758184" cy="1051560"/>
          </a:xfrm>
          <a:prstGeom prst="roundRect">
            <a:avLst>
              <a:gd name="adj" fmla="val 4783"/>
            </a:avLst>
          </a:prstGeom>
          <a:solidFill>
            <a:srgbClr val="1E293B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44988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69 → 3000+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49743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glmark2 总分(同机 Linux 6100~7000)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06824" y="4343400"/>
            <a:ext cx="3758184" cy="1051560"/>
          </a:xfrm>
          <a:prstGeom prst="roundRect">
            <a:avLst>
              <a:gd name="adj" fmla="val 4783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4535424" y="44988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35424" y="49743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拉取请求已合入主线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56448" y="4343400"/>
            <a:ext cx="3758184" cy="1051560"/>
          </a:xfrm>
          <a:prstGeom prst="roundRect">
            <a:avLst>
              <a:gd name="adj" fmla="val 4783"/>
            </a:avLst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48" y="44988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/ 50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385048" y="49743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重场景浸泡退出码全 0 · 零冻结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汇报人:周宇聪 · 2026 年 7 月 – 10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OVERVIEW · 一页概览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结论先行:三个月的四组数字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715768" cy="2377440"/>
          </a:xfrm>
          <a:prstGeom prst="roundRect">
            <a:avLst>
              <a:gd name="adj" fmla="val 21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" y="1627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virgl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用户态零改动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788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GL_RENDERER=virgl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宿主真实 GPU 渲染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0128" y="1371600"/>
            <a:ext cx="2715768" cy="2377440"/>
          </a:xfrm>
          <a:prstGeom prst="roundRect">
            <a:avLst>
              <a:gd name="adj" fmla="val 21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11296" y="1627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69 → 3000+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11296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glmark2 总分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11296" y="2788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 场景完整跑完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同机 Linux 参照 6100~7000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63056" y="1371600"/>
            <a:ext cx="2715768" cy="2377440"/>
          </a:xfrm>
          <a:prstGeom prst="roundRect">
            <a:avLst>
              <a:gd name="adj" fmla="val 21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64224" y="1627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2.17 → 0.33 ms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64224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渲染循环帧时间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64224" y="2788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约 −85%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每帧同步往返清零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015984" y="1371600"/>
            <a:ext cx="2715768" cy="2377440"/>
          </a:xfrm>
          <a:prstGeom prst="roundRect">
            <a:avLst>
              <a:gd name="adj" fmla="val 21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17152" y="1627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7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17152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拉取请求已合入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17152" y="2788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唯一开放:上游 crate #265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语义已随主线进入仓库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11274552" cy="731520"/>
          </a:xfrm>
          <a:prstGeom prst="roundRect">
            <a:avLst>
              <a:gd name="adj" fmla="val 6875"/>
            </a:avLst>
          </a:prstGeom>
          <a:solidFill>
            <a:srgbClr val="F0FDFA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3159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guest 侧三类整机冻结的结构性缺陷已根除 —— 重场景 10 轮浸泡,50/50 退出码全 0、零冻结、分数无衰减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5257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汇报路线:基线 → 总体架构 → 阶段一 功能 → 阶段二 性能 → 阶段三 工程 → 组件化 → 成果与边界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· 基线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先造标尺:同法对照实验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7607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  <a:gridCol w="132588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环境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内核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CPU 渲染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 渲染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QEMU+KVM · 4 vCPU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Alpine Linux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700~800 FPS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 9000 FPS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其余完全相同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StarryOS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 500 FPS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不支持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355848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255264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硬件加速对图形场景是数量级的收益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36393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内 GPU 路径是 CPU 路径的十几倍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57200" y="4197096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409651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差距 100% 在内核侧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31520" y="448056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两侧用户态完全相同,唯一变量就是内核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7200" y="5038344"/>
            <a:ext cx="128016" cy="128016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49377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纪律:同机 · 同用户态 · 唯一变量 · 背靠背 A/B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31520" y="532180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此后每一个百分比都建立在可复现的对照上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537960" y="1417320"/>
            <a:ext cx="5193792" cy="2240280"/>
          </a:xfrm>
          <a:prstGeom prst="roundRect">
            <a:avLst>
              <a:gd name="adj" fmla="val 22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pic>
        <p:nvPicPr>
          <p:cNvPr id="16" name="Image 0" descr="/tmp/ppt-assets/bas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45920"/>
            <a:ext cx="4828032" cy="122746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720840" y="306324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第一周对照:Alpine Linux 与 StarryOS 的 Weston + glmark2(同参数 QEMU)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537960" y="3977640"/>
            <a:ext cx="5193792" cy="1234440"/>
          </a:xfrm>
          <a:prstGeom prst="roundRect">
            <a:avLst>
              <a:gd name="adj" fmla="val 4074"/>
            </a:avLst>
          </a:prstGeom>
          <a:solidFill>
            <a:srgbClr val="F0FDFA"/>
          </a:solidFill>
          <a:ln/>
        </p:spPr>
      </p:sp>
      <p:sp>
        <p:nvSpPr>
          <p:cNvPr id="19" name="Text 15"/>
          <p:cNvSpPr/>
          <p:nvPr/>
        </p:nvSpPr>
        <p:spPr>
          <a:xfrm>
            <a:off x="6766560" y="41605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「先造标尺」是三个月里最便宜也最值钱的决定: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后面每一次优化、每一次证伪,用的都是这把尺子。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总体架构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软件栈分层与一帧的生命周期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789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StarryOS guest(虚拟机内)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1572768" cy="77724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556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Weston + Mesa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039112" y="1737360"/>
            <a:ext cx="118872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67128" y="1353312"/>
            <a:ext cx="1572768" cy="77724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67128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card0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67128" y="17556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DRM ioctl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1737360"/>
            <a:ext cx="118872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77056" y="1353312"/>
            <a:ext cx="1572768" cy="77724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77056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axgpu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77056" y="17556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门面 / 等待原语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58968" y="1737360"/>
            <a:ext cx="118872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86984" y="1353312"/>
            <a:ext cx="1572768" cy="77724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86984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rdif-gpu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586984" y="17556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VirglOps 合同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68896" y="1737360"/>
            <a:ext cx="118872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296912" y="1353312"/>
            <a:ext cx="1572768" cy="77724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96912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ax-driver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296912" y="17556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平台适配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878824" y="1737360"/>
            <a:ext cx="118872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06840" y="1353312"/>
            <a:ext cx="1572768" cy="777240"/>
          </a:xfrm>
          <a:prstGeom prst="roundRect">
            <a:avLst>
              <a:gd name="adj" fmla="val 6471"/>
            </a:avLst>
          </a:prstGeom>
          <a:solidFill>
            <a:srgbClr val="CCFBF1"/>
          </a:solidFill>
          <a:ln w="15875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146304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virtio-gpu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006840" y="175564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异步控制队列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291840" y="2395728"/>
            <a:ext cx="5486400" cy="475488"/>
          </a:xfrm>
          <a:prstGeom prst="roundRect">
            <a:avLst>
              <a:gd name="adj" fmla="val 10577"/>
            </a:avLst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3291840" y="23957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virtqueue(控制 64 / 游标 16)—— kick = 一次 MMIO 写,在虚拟化里是一次 VM-exit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469880" y="2148840"/>
            <a:ext cx="-1874520" cy="24688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57200" y="29992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QEMU 宿主机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286000" y="3273552"/>
            <a:ext cx="260604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0" y="32735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QEMU virtio-gpu 设备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910328" y="3639312"/>
            <a:ext cx="237744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166360" y="3273552"/>
            <a:ext cx="260604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66360" y="32735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virglrenderer:翻译为宿主 GL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790688" y="3639312"/>
            <a:ext cx="237744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046720" y="3273552"/>
            <a:ext cx="2606040" cy="731520"/>
          </a:xfrm>
          <a:prstGeom prst="roundRect">
            <a:avLst>
              <a:gd name="adj" fmla="val 6875"/>
            </a:avLst>
          </a:prstGeom>
          <a:solidFill>
            <a:srgbClr val="CCFBF1"/>
          </a:solidFill>
          <a:ln w="15875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046720" y="32735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 GPU(AMD Radeon 780M)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383280" y="2871216"/>
            <a:ext cx="0" cy="38404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058400" y="4023360"/>
            <a:ext cx="-9189720" cy="0"/>
          </a:xfrm>
          <a:prstGeom prst="line">
            <a:avLst/>
          </a:prstGeom>
          <a:noFill/>
          <a:ln w="15875">
            <a:solidFill>
              <a:srgbClr val="14B8A6"/>
            </a:solidFill>
            <a:prstDash val="dash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4572000" y="409651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渲染完成:写 used ring → 中断 guest(完成通知链)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4553712"/>
            <a:ext cx="1335024" cy="731520"/>
          </a:xfrm>
          <a:prstGeom prst="roundRect">
            <a:avLst>
              <a:gd name="adj" fmla="val 6875"/>
            </a:avLst>
          </a:prstGeom>
          <a:solidFill>
            <a:srgbClr val="F8FAFC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553712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应用渲染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869948" y="4553712"/>
            <a:ext cx="1335024" cy="731520"/>
          </a:xfrm>
          <a:prstGeom prst="roundRect">
            <a:avLst>
              <a:gd name="adj" fmla="val 6875"/>
            </a:avLst>
          </a:prstGeom>
          <a:solidFill>
            <a:srgbClr val="F8FAFC"/>
          </a:solidFill>
          <a:ln/>
        </p:spPr>
      </p:sp>
      <p:sp>
        <p:nvSpPr>
          <p:cNvPr id="47" name="Text 45"/>
          <p:cNvSpPr/>
          <p:nvPr/>
        </p:nvSpPr>
        <p:spPr>
          <a:xfrm>
            <a:off x="1869948" y="4553712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Mesa 编码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282696" y="4553712"/>
            <a:ext cx="1335024" cy="731520"/>
          </a:xfrm>
          <a:prstGeom prst="roundRect">
            <a:avLst>
              <a:gd name="adj" fmla="val 6875"/>
            </a:avLst>
          </a:prstGeom>
          <a:solidFill>
            <a:srgbClr val="CCFBF1"/>
          </a:solidFill>
          <a:ln/>
        </p:spPr>
      </p:sp>
      <p:sp>
        <p:nvSpPr>
          <p:cNvPr id="49" name="Text 47"/>
          <p:cNvSpPr/>
          <p:nvPr/>
        </p:nvSpPr>
        <p:spPr>
          <a:xfrm>
            <a:off x="3282696" y="4553712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EXECBUFFER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695444" y="4553712"/>
            <a:ext cx="1335024" cy="731520"/>
          </a:xfrm>
          <a:prstGeom prst="roundRect">
            <a:avLst>
              <a:gd name="adj" fmla="val 6875"/>
            </a:avLst>
          </a:prstGeom>
          <a:solidFill>
            <a:srgbClr val="F8FAFC"/>
          </a:solidFill>
          <a:ln/>
        </p:spPr>
      </p:sp>
      <p:sp>
        <p:nvSpPr>
          <p:cNvPr id="51" name="Text 49"/>
          <p:cNvSpPr/>
          <p:nvPr/>
        </p:nvSpPr>
        <p:spPr>
          <a:xfrm>
            <a:off x="4695444" y="4553712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 队列传输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108192" y="4553712"/>
            <a:ext cx="1335024" cy="731520"/>
          </a:xfrm>
          <a:prstGeom prst="roundRect">
            <a:avLst>
              <a:gd name="adj" fmla="val 6875"/>
            </a:avLst>
          </a:prstGeom>
          <a:solidFill>
            <a:srgbClr val="CCFBF1"/>
          </a:solidFill>
          <a:ln/>
        </p:spPr>
      </p:sp>
      <p:sp>
        <p:nvSpPr>
          <p:cNvPr id="53" name="Text 51"/>
          <p:cNvSpPr/>
          <p:nvPr/>
        </p:nvSpPr>
        <p:spPr>
          <a:xfrm>
            <a:off x="6108192" y="4553712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宿主渲染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520940" y="4553712"/>
            <a:ext cx="1335024" cy="731520"/>
          </a:xfrm>
          <a:prstGeom prst="roundRect">
            <a:avLst>
              <a:gd name="adj" fmla="val 6875"/>
            </a:avLst>
          </a:prstGeom>
          <a:solidFill>
            <a:srgbClr val="CCFBF1"/>
          </a:solidFill>
          <a:ln/>
        </p:spPr>
      </p:sp>
      <p:sp>
        <p:nvSpPr>
          <p:cNvPr id="55" name="Text 53"/>
          <p:cNvSpPr/>
          <p:nvPr/>
        </p:nvSpPr>
        <p:spPr>
          <a:xfrm>
            <a:off x="7520940" y="4553712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 fence 完成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933688" y="4553712"/>
            <a:ext cx="1335024" cy="731520"/>
          </a:xfrm>
          <a:prstGeom prst="roundRect">
            <a:avLst>
              <a:gd name="adj" fmla="val 6875"/>
            </a:avLst>
          </a:prstGeom>
          <a:solidFill>
            <a:srgbClr val="F8FAFC"/>
          </a:solidFill>
          <a:ln/>
        </p:spPr>
      </p:sp>
      <p:sp>
        <p:nvSpPr>
          <p:cNvPr id="57" name="Text 55"/>
          <p:cNvSpPr/>
          <p:nvPr/>
        </p:nvSpPr>
        <p:spPr>
          <a:xfrm>
            <a:off x="8933688" y="4553712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⑦ guest 收割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10346436" y="4553712"/>
            <a:ext cx="1335024" cy="731520"/>
          </a:xfrm>
          <a:prstGeom prst="roundRect">
            <a:avLst>
              <a:gd name="adj" fmla="val 6875"/>
            </a:avLst>
          </a:prstGeom>
          <a:solidFill>
            <a:srgbClr val="F8FAFC"/>
          </a:solidFill>
          <a:ln/>
        </p:spPr>
      </p:sp>
      <p:sp>
        <p:nvSpPr>
          <p:cNvPr id="59" name="Text 57"/>
          <p:cNvSpPr/>
          <p:nvPr/>
        </p:nvSpPr>
        <p:spPr>
          <a:xfrm>
            <a:off x="10346436" y="4553712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⑧ present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57200" y="5532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帧时间 = ①→⑧ 的墙钟。优化的两个方向:压每个环节的固定单价;让 ③④ 与 ⑤ 流水线重叠(异步化)——第 5 页起全部展开。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核心问题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同步模型 vs 异步模型:整个优化战役的纲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1274552" cy="2057400"/>
          </a:xfrm>
          <a:prstGeom prst="roundRect">
            <a:avLst>
              <a:gd name="adj" fmla="val 244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264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同步模型 —— 每条命令一次阻塞往返(改造前的上游形态)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68680" y="1874520"/>
            <a:ext cx="1874520" cy="566928"/>
          </a:xfrm>
          <a:prstGeom prst="roundRect">
            <a:avLst>
              <a:gd name="adj" fmla="val 8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8745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命令入队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52344" y="2157984"/>
            <a:ext cx="3657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127248" y="1874520"/>
            <a:ext cx="1874520" cy="566928"/>
          </a:xfrm>
          <a:prstGeom prst="roundRect">
            <a:avLst>
              <a:gd name="adj" fmla="val 8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27248" y="18745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kick(VM-exit)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10912" y="2157984"/>
            <a:ext cx="3657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385816" y="1874520"/>
            <a:ext cx="1874520" cy="566928"/>
          </a:xfrm>
          <a:prstGeom prst="roundRect">
            <a:avLst>
              <a:gd name="adj" fmla="val 8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85816" y="18745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自旋等宿主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269480" y="2157984"/>
            <a:ext cx="36576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644384" y="1874520"/>
            <a:ext cx="1874520" cy="566928"/>
          </a:xfrm>
          <a:prstGeom prst="roundRect">
            <a:avLst>
              <a:gd name="adj" fmla="val 8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44384" y="18745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应答返回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902952" y="1874520"/>
            <a:ext cx="1600200" cy="566928"/>
          </a:xfrm>
          <a:prstGeom prst="roundRect">
            <a:avLst>
              <a:gd name="adj" fmla="val 8871"/>
            </a:avLst>
          </a:prstGeom>
          <a:solidFill>
            <a:srgbClr val="FFF7ED"/>
          </a:solidFill>
          <a:ln/>
        </p:spPr>
      </p:sp>
      <p:sp>
        <p:nvSpPr>
          <p:cNvPr id="19" name="Text 17"/>
          <p:cNvSpPr/>
          <p:nvPr/>
        </p:nvSpPr>
        <p:spPr>
          <a:xfrm>
            <a:off x="9902952" y="187452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每帧 3~5 轮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267004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SUBMIT 阻塞到渲染完成 —— 宿主渲染期间,guest 完全空转;T帧 ≈ Σ(每环节处理 + RTT),零重叠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584448"/>
            <a:ext cx="11274552" cy="2194560"/>
          </a:xfrm>
          <a:prstGeom prst="roundRect">
            <a:avLst>
              <a:gd name="adj" fmla="val 2292"/>
            </a:avLst>
          </a:prstGeom>
          <a:solidFill>
            <a:srgbClr val="F0FDF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7124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异步模型 —— fire-and-forget + 真 fence(对齐 Linux 提交模型)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68680" y="4160520"/>
            <a:ext cx="2395728" cy="566928"/>
          </a:xfrm>
          <a:prstGeom prst="roundRect">
            <a:avLst>
              <a:gd name="adj" fmla="val 8871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416052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 + fence_id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73552" y="4443984"/>
            <a:ext cx="30175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584448" y="4160520"/>
            <a:ext cx="2395728" cy="566928"/>
          </a:xfrm>
          <a:prstGeom prst="roundRect">
            <a:avLst>
              <a:gd name="adj" fmla="val 8871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3584448" y="416052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ioctl 立即返回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89320" y="4443984"/>
            <a:ext cx="30175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300216" y="4160520"/>
            <a:ext cx="2395728" cy="566928"/>
          </a:xfrm>
          <a:prstGeom prst="roundRect">
            <a:avLst>
              <a:gd name="adj" fmla="val 8871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300216" y="416052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编码下一帧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与宿主渲染重叠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705088" y="4443984"/>
            <a:ext cx="301752" cy="0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015984" y="4160520"/>
            <a:ext cx="2395728" cy="566928"/>
          </a:xfrm>
          <a:prstGeom prst="roundRect">
            <a:avLst>
              <a:gd name="adj" fmla="val 8871"/>
            </a:avLst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9015984" y="4160520"/>
            <a:ext cx="2395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fence 完成翻转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5800" y="495604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唯一保留的等待是 fence:它表达真实的 GPU 依赖,不可消除、只能被流水线隐藏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T帧 ≈ max(guest 每帧编码, 宿主每帧渲染) + 一次批量 kick + fence 唤醒延迟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伏笔:只异步化「看得见」的两个同步点,实测反而更慢(362 / 357 &lt; 405)—— 真正的工作是把每帧隐藏的同步点全部数出来。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· 阶段一(第 1~5 周)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功能打通:从协议调研到完整出分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371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协议调研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24128" y="16824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virtio 驱动 / virtio_gpu.h / Mesa virgl.xml,字节级布局表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24128" y="2121408"/>
            <a:ext cx="5349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1762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驱动 3D 扩展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24128" y="24871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fork virtio-drivers:3D 命令面,opcode 与 Linux 头文件逐一对表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24128" y="2926080"/>
            <a:ext cx="5349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98094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298094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三层封装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024128" y="32918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rdif-display 合同 → ax-driver 实现 → axdisplay 门面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24128" y="3730752"/>
            <a:ext cx="5349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85616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DRM 设备层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24128" y="4096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 VIRTGPU ioctl,handler 与 Linux 一一对应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24128" y="4535424"/>
            <a:ext cx="5349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5902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9028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认卡失配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024128" y="49011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sysfs 驱动名 / renderD128 / ioctl 布局 64B/48B / GETPARAM 指针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24128" y="5340096"/>
            <a:ext cx="534924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3949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949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黑屏修复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024128" y="57058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FbBacking::Gpu3d —— set_scanout 让宿主零拷贝直接上屏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83680" y="1371600"/>
            <a:ext cx="5148072" cy="1783080"/>
          </a:xfrm>
          <a:prstGeom prst="roundRect">
            <a:avLst>
              <a:gd name="adj" fmla="val 2821"/>
            </a:avLst>
          </a:prstGeom>
          <a:solidFill>
            <a:srgbClr val="0F172A"/>
          </a:solidFill>
          <a:ln/>
        </p:spPr>
      </p:sp>
      <p:sp>
        <p:nvSpPr>
          <p:cNvPr id="29" name="Text 27"/>
          <p:cNvSpPr/>
          <p:nvPr/>
        </p:nvSpPr>
        <p:spPr>
          <a:xfrm>
            <a:off x="6784848" y="14813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virgl-test · guest serial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784848" y="17830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GL_VENDOR:    Mesa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GL_RENDERER:  virgl (AMD Radeon 780M ...)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GL_VERSION:   OpenGL ES 3.2 Mesa 25.2.7</a:t>
            </a:r>
            <a:endParaRPr lang="en-US" sz="1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glmark2 Score: 完整出分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0" y="3310128"/>
            <a:ext cx="5148072" cy="2743200"/>
          </a:xfrm>
          <a:prstGeom prst="roundRect">
            <a:avLst>
              <a:gd name="adj" fmla="val 18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pic>
        <p:nvPicPr>
          <p:cNvPr id="32" name="Image 0" descr="/tmp/ppt-assets/milest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0316" y="3401568"/>
            <a:ext cx="4114800" cy="231457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6766560" y="5742432"/>
            <a:ext cx="4782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 周里程碑:Weston + glmark2 正常显示,比计划提前两周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· 性能战役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方法论:帧时间为北极星,数据裁决一切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92024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600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猜想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87168" y="2057400"/>
            <a:ext cx="329184" cy="0"/>
          </a:xfrm>
          <a:prstGeom prst="line">
            <a:avLst/>
          </a:prstGeom>
          <a:noFill/>
          <a:ln w="2222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834640" y="1600200"/>
            <a:ext cx="192024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34640" y="1600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能证伪的实验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73168" y="2057400"/>
            <a:ext cx="329184" cy="0"/>
          </a:xfrm>
          <a:prstGeom prst="line">
            <a:avLst/>
          </a:prstGeom>
          <a:noFill/>
          <a:ln w="2222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0640" y="1600200"/>
            <a:ext cx="192024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20640" y="1600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修改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059168" y="2057400"/>
            <a:ext cx="329184" cy="0"/>
          </a:xfrm>
          <a:prstGeom prst="line">
            <a:avLst/>
          </a:prstGeom>
          <a:noFill/>
          <a:ln w="2222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06640" y="1600200"/>
            <a:ext cx="192024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1600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同机 A/B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345168" y="2057400"/>
            <a:ext cx="329184" cy="0"/>
          </a:xfrm>
          <a:prstGeom prst="line">
            <a:avLst/>
          </a:prstGeom>
          <a:noFill/>
          <a:ln w="2222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692640" y="1600200"/>
            <a:ext cx="1920240" cy="914400"/>
          </a:xfrm>
          <a:prstGeom prst="roundRect">
            <a:avLst>
              <a:gd name="adj" fmla="val 5500"/>
            </a:avLst>
          </a:prstGeom>
          <a:solidFill>
            <a:srgbClr val="CCFBF1"/>
          </a:solidFill>
          <a:ln w="1587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692640" y="1600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数据裁决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 / 回滚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881360" y="2542032"/>
            <a:ext cx="-9418320" cy="0"/>
          </a:xfrm>
          <a:prstGeom prst="line">
            <a:avLst/>
          </a:prstGeom>
          <a:noFill/>
          <a:ln w="15875">
            <a:solidFill>
              <a:srgbClr val="64748B"/>
            </a:solidFill>
            <a:prstDash val="dash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200400" y="26151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每个结论都要有反事实数据 —— 失败的实验和成功的修复同样值钱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3375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测量资产(归因不靠猜)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2130552" cy="960120"/>
          </a:xfrm>
          <a:prstGeom prst="roundRect">
            <a:avLst>
              <a:gd name="adj" fmla="val 5238"/>
            </a:avLst>
          </a:prstGeom>
          <a:solidFill>
            <a:srgbClr val="F8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703320"/>
            <a:ext cx="2130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QEMU tracepoint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命令计数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3703320"/>
            <a:ext cx="2130552" cy="960120"/>
          </a:xfrm>
          <a:prstGeom prst="roundRect">
            <a:avLst>
              <a:gd name="adj" fmla="val 5238"/>
            </a:avLst>
          </a:prstGeom>
          <a:solidFill>
            <a:srgbClr val="F8FAFC"/>
          </a:solidFill>
          <a:ln/>
        </p:spPr>
      </p:sp>
      <p:sp>
        <p:nvSpPr>
          <p:cNvPr id="25" name="Text 23"/>
          <p:cNvSpPr/>
          <p:nvPr/>
        </p:nvSpPr>
        <p:spPr>
          <a:xfrm>
            <a:off x="2743200" y="3703320"/>
            <a:ext cx="2130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LD_PRELOAD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拦截 ioctl(六版)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0" y="3703320"/>
            <a:ext cx="2130552" cy="960120"/>
          </a:xfrm>
          <a:prstGeom prst="roundRect">
            <a:avLst>
              <a:gd name="adj" fmla="val 5238"/>
            </a:avLst>
          </a:prstGeom>
          <a:solidFill>
            <a:srgbClr val="F8FAFC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0" y="3703320"/>
            <a:ext cx="2130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QMP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virtio 队列取证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315200" y="3703320"/>
            <a:ext cx="2130552" cy="960120"/>
          </a:xfrm>
          <a:prstGeom prst="roundRect">
            <a:avLst>
              <a:gd name="adj" fmla="val 5238"/>
            </a:avLst>
          </a:prstGeom>
          <a:solidFill>
            <a:srgbClr val="F8FAFC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3703320"/>
            <a:ext cx="2130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HMP xp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宿主内存直读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601200" y="3703320"/>
            <a:ext cx="2130552" cy="960120"/>
          </a:xfrm>
          <a:prstGeom prst="roundRect">
            <a:avLst>
              <a:gd name="adj" fmla="val 5238"/>
            </a:avLst>
          </a:prstGeom>
          <a:solidFill>
            <a:srgbClr val="F8FAFC"/>
          </a:solidFill>
          <a:ln/>
        </p:spPr>
      </p:sp>
      <p:sp>
        <p:nvSpPr>
          <p:cNvPr id="31" name="Text 29"/>
          <p:cNvSpPr/>
          <p:nvPr/>
        </p:nvSpPr>
        <p:spPr>
          <a:xfrm>
            <a:off x="9601200" y="3703320"/>
            <a:ext cx="2130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瀑布插桩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逐段计时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57200" y="5120640"/>
            <a:ext cx="11274552" cy="868680"/>
          </a:xfrm>
          <a:prstGeom prst="roundRect">
            <a:avLst>
              <a:gd name="adj" fmla="val 5789"/>
            </a:avLst>
          </a:prstGeom>
          <a:solidFill>
            <a:srgbClr val="FFF7ED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5120640"/>
            <a:ext cx="11274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串口日志每行 ≈ 100 FPS 级开销 —— 任何测量必须先关日志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· 性能战役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异步化的第一次失败,与 47 个隐藏的同步往返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  <a:gridCol w="12344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轮次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改动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Score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同步 + FENCE 开(等渲染完才返回)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367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exp4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同步 + FENCE 关 —— 基线 B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405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exp5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 EXECBUFFER 异步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362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exp6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 present 异步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357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fix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attach 每 (ctx, res) 只挂一次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406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full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生命周期命令全部 fire-and-forget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766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439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12280" y="129844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36.5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6812280" y="22860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次/帧 资源挂载(Linux:0)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run 累计 828,394 次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12280" y="3017520"/>
            <a:ext cx="4919472" cy="1325880"/>
          </a:xfrm>
          <a:prstGeom prst="roundRect">
            <a:avLst>
              <a:gd name="adj" fmla="val 3793"/>
            </a:avLst>
          </a:prstGeom>
          <a:solidFill>
            <a:srgbClr val="F8FAF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315468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死字段:attached: bool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40880" y="34930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处写 · 0 处读。正确语义(对照 virtgpu_gem.c):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每(上下文, 资源)只挂载一次 —— weston 与 glmark2 两上下文共享同一批缓冲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12280" y="4526280"/>
            <a:ext cx="4919472" cy="868680"/>
          </a:xfrm>
          <a:prstGeom prst="roundRect">
            <a:avLst>
              <a:gd name="adj" fmla="val 5789"/>
            </a:avLst>
          </a:prstGeom>
          <a:solidFill>
            <a:srgbClr val="F0FDFA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52628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每帧同步往返清零 —— 收益与移除的 RTT 数严格线性;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重场景收益是轻场景十倍(队列越深,RTT 越贵)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53492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失败是线索:数完每帧同步点 —— 29 attach + 18 创建/销毁/上传 = 47 个 RTT 藏在别处,EXECBUFFER 自己只占几十微秒。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· 性能战役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三个「看不见的浪费」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730752" cy="43434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浪费 ① · kick 策略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以「一次系统调用」为合并单位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在 enqueue 时从不 notify,只做计数,kick 统一放在 ioctl 收尾——合并单位不是命令条数,而是一次系统调用;每条命令自行判断反而回退(5.16 kick/帧)。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227~353µs → 35.6µs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5800" y="4663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ioctl 单价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5029200"/>
            <a:ext cx="3273552" cy="457200"/>
          </a:xfrm>
          <a:prstGeom prst="roundRect">
            <a:avLst>
              <a:gd name="adj" fmla="val 11000"/>
            </a:avLst>
          </a:prstGeom>
          <a:solidFill>
            <a:srgbClr val="F0FDF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50292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kick/帧 3.23(Linux 1.01)· 539 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29100" y="1325880"/>
            <a:ext cx="3730752" cy="43434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5770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浪费 ② · 假 fence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57700" y="1828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每帧一个 8×1 像素资源的侦探故事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457700" y="25146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LD_PRELOAD 六版 + 反汇编定位 Mesa:它认为驱动不支持 fence-fd,退化 legacy 模式,拿小资源当 fence 用完就扔。根因 = DRIVER_VERSION_MINOR 写成 0。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5770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万次 → 0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457700" y="4663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legacy 资源创建/每 run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57700" y="5029200"/>
            <a:ext cx="3273552" cy="457200"/>
          </a:xfrm>
          <a:prstGeom prst="roundRect">
            <a:avLst>
              <a:gd name="adj" fmla="val 11000"/>
            </a:avLst>
          </a:prstGeom>
          <a:solidFill>
            <a:srgbClr val="F0FDFA"/>
          </a:solidFill>
          <a:ln/>
        </p:spPr>
      </p:sp>
      <p:sp>
        <p:nvSpPr>
          <p:cNvPr id="20" name="Text 18"/>
          <p:cNvSpPr/>
          <p:nvPr/>
        </p:nvSpPr>
        <p:spPr>
          <a:xfrm>
            <a:off x="4457700" y="50292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 fence 语义落地 · texture 637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01000" y="1325880"/>
            <a:ext cx="3730752" cy="4343400"/>
          </a:xfrm>
          <a:prstGeom prst="roundRect">
            <a:avLst>
              <a:gd name="adj" fmla="val 13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浪费 ③ · 自唤醒与噪音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1828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 waker 永远认不出旧 waker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229600" y="251460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PollSet 环形替换 + epoll 从不注销 →「唤醒上一个自己」无限自循环;再加 refresher / 串口 / 网卡三处 1ms 轮询噪音,专挑关键窗口插队。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0" y="41605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+56% / +8.8%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8229600" y="4663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epoll 修复 / 三噪齐治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0" y="5029200"/>
            <a:ext cx="3273552" cy="457200"/>
          </a:xfrm>
          <a:prstGeom prst="roundRect">
            <a:avLst>
              <a:gd name="adj" fmla="val 11000"/>
            </a:avLst>
          </a:prstGeom>
          <a:solidFill>
            <a:srgbClr val="F0FDFA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50292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texture 500-520 → 924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顺手证伪一个猜想:Linux 并没有 avail_event「抑制魔法」—— 实测 kick:command = 0.33,约每条 submit 一次 kick。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· 性能战役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差距账本:1100µs vs 190µs = 5.8×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80644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51560"/>
                <a:gridCol w="1005840"/>
                <a:gridCol w="10515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类目(渲染循环 1.10ms=100%)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Starry µs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Linux µs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倍数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Wayland socket 系统调用 ×7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370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52.9×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辅助成员轮次(kb/shell/timerfd)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76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10.9×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GPU 提交 ioctl(execb×2+atomic)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259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6.5×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唤醒/调度跳(H1+H3)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235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5.9×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Weston 用户态分派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4.0×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应用/Mesa 用户态编码 = 物理地板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76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1.1×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580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重要修正:系统里是两条循环 —— 渲染 ~900 次/s,合成仅 88 次/s;以前混成一条「帧」算账,账本整体作废后重测。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92240" y="1371600"/>
          <a:ext cx="5239512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6492240" y="507492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各项相对同机 Linux 的倍数(对同二进制三方微基准:S 7.9× / A 24.8× / EAGAIN 60×)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57200" y="5623560"/>
            <a:ext cx="11274552" cy="713232"/>
          </a:xfrm>
          <a:prstGeom prst="roundRect">
            <a:avLst>
              <a:gd name="adj" fmla="val 7051"/>
            </a:avLst>
          </a:prstGeom>
          <a:solidFill>
            <a:srgbClr val="F0FDFA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5623560"/>
            <a:ext cx="11274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结论:等待已无浪费,剩余差距全是「单价」—— socket / syscall 入口税是内核级战场,超出 GPU 驱动范围(列入第 16 页边界)。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· 战役插曲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三次大重构,与一个被底座暴露的地址翻译缺陷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694176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298448"/>
            <a:ext cx="3694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#1775 调度/任务重建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1282 文件 +14.8 万行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47388" y="1298448"/>
            <a:ext cx="3694176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/>
          <p:nvPr/>
        </p:nvSpPr>
        <p:spPr>
          <a:xfrm>
            <a:off x="4247388" y="1298448"/>
            <a:ext cx="3694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#2363 ax-cpu 集中化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642 文件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37576" y="1298448"/>
            <a:ext cx="3694176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10" name="Text 8"/>
          <p:cNvSpPr/>
          <p:nvPr/>
        </p:nvSpPr>
        <p:spPr>
          <a:xfrm>
            <a:off x="8037576" y="1298448"/>
            <a:ext cx="3694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#2261 starry-mm</a:t>
            </a:r>
            <a:endParaRPr lang="en-US" sz="1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VMA 生命周期重设计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21284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rebase 清单:card0 45 项导入逐项对照 / 约 200 处用户内存访问改签名 / 3 个 Pollable 迁移 lease 模型 —— 编译通过后,3D 初始化却失败了。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3694176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七项「命令语义」假设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3200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payload、特性协商、IRQ……逐项证伪 —— 命令完全合法,宿主也收到了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42816" y="2697480"/>
            <a:ext cx="3694176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43984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qt-calc 纯 upstream 对照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443984" y="3200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不经过我任何代码的实验 PASSED → 锁定差异点:fork 零拷贝把调用者栈借给设备 DMA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28432" y="2697480"/>
            <a:ext cx="3694176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QEMU HMP xp 宿主取证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29600" y="32004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宿主视角直读公式算出的物理地址 —— 看到的是用户代码页的字节,实锤错译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297680"/>
            <a:ext cx="11274552" cy="914400"/>
          </a:xfrm>
          <a:prstGeom prst="roundRect">
            <a:avLst>
              <a:gd name="adj" fmla="val 5500"/>
            </a:avLst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976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公式算出的 paddr,读到的是用户代码页的字节 —— vmap 任务栈不在线性映射窗口,线性偏移公式错译,且无任何报错。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57200" y="5440680"/>
            <a:ext cx="11274552" cy="868680"/>
          </a:xfrm>
          <a:prstGeom prst="roundRect">
            <a:avLst>
              <a:gd name="adj" fmla="val 5789"/>
            </a:avLst>
          </a:prstGeom>
          <a:solidFill>
            <a:srgbClr val="F0FDFA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4406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终态(经 #2506 重构演化):热路径命令全拷入驱动自有、地址稳定的 DMA arena —— 结构上无借用;零拷贝仅剩 request_sync,契约写入注释:必须传分配器内存,绝不能是任意栈帧。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· 最大单项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fence 延迟:39µs vs 1598µs = 41×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023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41×</a:t>
            </a:r>
            <a:endParaRPr lang="en-US" sz="92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fence 创建 → signal 的墙钟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463040"/>
            <a:ext cx="3246120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74920" y="16276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39µs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074920" y="22128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Linux VM(p50 14µs)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中断即时路径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366760" y="1463040"/>
            <a:ext cx="3364992" cy="1371600"/>
          </a:xfrm>
          <a:prstGeom prst="roundRect">
            <a:avLst>
              <a:gd name="adj" fmla="val 3667"/>
            </a:avLst>
          </a:prstGeom>
          <a:solidFill>
            <a:srgbClr val="FFF7ED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0" y="16276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1598µs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595360" y="221284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StarryOS(改造前)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满载均值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根因链(代码里就能看到):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3566160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776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fence 完成靠 1ms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轮询 tick 兜底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041648" y="4361688"/>
            <a:ext cx="256032" cy="0"/>
          </a:xfrm>
          <a:prstGeom prst="line">
            <a:avLst/>
          </a:prstGeom>
          <a:noFill/>
          <a:ln w="19050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15968" y="3977640"/>
            <a:ext cx="3566160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18" name="Text 16"/>
          <p:cNvSpPr/>
          <p:nvPr/>
        </p:nvSpPr>
        <p:spPr>
          <a:xfrm>
            <a:off x="4315968" y="39776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满载下 tick 被调度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拖到平均 1.6ms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00416" y="4361688"/>
            <a:ext cx="256032" cy="0"/>
          </a:xfrm>
          <a:prstGeom prst="line">
            <a:avLst/>
          </a:prstGeom>
          <a:noFill/>
          <a:ln w="19050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74736" y="3977640"/>
            <a:ext cx="3566160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39776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延迟分布以 1ms 为中心</a:t>
            </a:r>
            <a:endParaRPr lang="en-US" sz="12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散开 —— 精确吻合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5029200"/>
            <a:ext cx="11274552" cy="960120"/>
          </a:xfrm>
          <a:prstGeom prst="roundRect">
            <a:avLst>
              <a:gd name="adj" fmla="val 5238"/>
            </a:avLst>
          </a:prstGeom>
          <a:solidFill>
            <a:srgbClr val="F0FDFA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13892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完成事件化(先行验证: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实时线程即时 signal)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852160" y="5074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+71~81%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778240" y="5138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texture 1423→2461 · shading 2495</a:t>
            </a:r>
            <a:endParaRPr lang="en-US" sz="12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总分进 2400 档 · 帧时间 0.70→0.41ms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1722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轮询与自旋都被控制变量实验证明是错误的兜底姿势 —— 完成通知必须走中断(事件化)。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· 阶段三(第 10~12 周)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工程化落地:从实验版到合入主线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694176" cy="4572000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4813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异步控制队列工程化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kick:阈值判定 + 事件去重的折中(饿死 vs 8% 损失)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混合流量:同步 request_sync 与异步同队列共存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DMA 字节住进固定 arena —— 地址漂移类 bug 结构上不可能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个活性缺陷(死锁/只等不推/文档陷阱)各有回归测试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4572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+24.6%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85800" y="5120640"/>
            <a:ext cx="3236976" cy="502920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512064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 场景 A/B · PR #265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42816" y="1325880"/>
            <a:ext cx="3694176" cy="4572000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71416" y="14813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471416" y="20574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合入主线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71416" y="251460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#2483(09-22):语义正确的同步版先行进入 dev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#2506 新栈重构后,异步语义作为增量逐层重放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错误链全程对齐 Linux errno:TimedOut→ETIMEDOUT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refract 等场景级失败随新栈恢复(1433 FPS)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471416" y="4572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3040 分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471416" y="5120640"/>
            <a:ext cx="3236976" cy="502920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/>
        </p:spPr>
      </p:sp>
      <p:sp>
        <p:nvSpPr>
          <p:cNvPr id="18" name="Text 16"/>
          <p:cNvSpPr/>
          <p:nvPr/>
        </p:nvSpPr>
        <p:spPr>
          <a:xfrm>
            <a:off x="4471416" y="512064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 场景完整 · +36~75% · #2536 合入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28432" y="1325880"/>
            <a:ext cx="3694176" cy="4572000"/>
          </a:xfrm>
          <a:prstGeom prst="roundRect">
            <a:avLst>
              <a:gd name="adj" fmla="val 136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57032" y="14813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257032" y="20574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环绕丢 kick 修复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57032" y="251460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should_notify 用 u16 ≥ 判 RING_EVENT_IDX,无环绕语义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 65536 后恒假 → 宿主收不到通知,队列耗尽、显示冻结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QMP 取证:last-avail-idx = used-idx = 65534 冻结</a:t>
            </a:r>
            <a:endParaRPr lang="en-US" sz="1150" dirty="0"/>
          </a:p>
          <a:p>
            <a:pPr algn="l" marL="127000" indent="-127000">
              <a:lnSpc>
                <a:spcPct val="115000"/>
              </a:lnSpc>
              <a:spcAft>
                <a:spcPts val="600"/>
              </a:spcAft>
              <a:buSzPct val="100000"/>
              <a:buChar char="–"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修复:边界 kick 恒发 MMIO(多余 kick 对规格恒安全)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57032" y="45720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+57%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257032" y="5120640"/>
            <a:ext cx="3236976" cy="502920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/>
        </p:spPr>
      </p:sp>
      <p:sp>
        <p:nvSpPr>
          <p:cNvPr id="25" name="Text 23"/>
          <p:cNvSpPr/>
          <p:nvPr/>
        </p:nvSpPr>
        <p:spPr>
          <a:xfrm>
            <a:off x="8257032" y="512064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同机 A/B texture 1865→2933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· 结构改造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把等待移出设备锁:对齐 Linux 的结构事实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5440680" cy="2743200"/>
          </a:xfrm>
          <a:prstGeom prst="roundRect">
            <a:avLst>
              <a:gd name="adj" fmla="val 183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081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改造前:等待者与完成泵互锁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1783080"/>
            <a:ext cx="3017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83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等待者:WAIT / UNREF / 回读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持锁自旋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2395728"/>
            <a:ext cx="2286000" cy="502920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239572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MAIN_GPU 全局锁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3017520"/>
            <a:ext cx="30175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完成泵:推进水位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(需要同一把锁)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55264" y="2057400"/>
            <a:ext cx="173736" cy="320040"/>
          </a:xfrm>
          <a:prstGeom prst="line">
            <a:avLst/>
          </a:prstGeom>
          <a:noFill/>
          <a:ln w="15875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3794760" y="201168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55264" y="3246120"/>
            <a:ext cx="265176" cy="-320040"/>
          </a:xfrm>
          <a:prstGeom prst="line">
            <a:avLst/>
          </a:prstGeom>
          <a:noFill/>
          <a:ln w="15875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11880" y="312724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抢不到 ✗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36393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等待越长 → 泵越停 → 等待更长(三次冻结的共同根源)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1298448"/>
            <a:ext cx="5422392" cy="2743200"/>
          </a:xfrm>
          <a:prstGeom prst="roundRect">
            <a:avLst>
              <a:gd name="adj" fmla="val 1833"/>
            </a:avLst>
          </a:prstGeom>
          <a:solidFill>
            <a:srgbClr val="F0FDFA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14081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改造后:资源交集为空(Linux 同款结构)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537960" y="1783080"/>
            <a:ext cx="4937760" cy="658368"/>
          </a:xfrm>
          <a:prstGeom prst="roundRect">
            <a:avLst>
              <a:gd name="adj" fmla="val 763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178308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等待者 wait_gpu_condition:锁间探测(≤32768 轮)+ 锁外睡眠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37960" y="2788920"/>
            <a:ext cx="4937760" cy="658368"/>
          </a:xfrm>
          <a:prstGeom prst="roundRect">
            <a:avLst>
              <a:gd name="adj" fmla="val 7639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278892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完成泵 / IRQ worker:推进水位 + set_completion_notifier 唤醒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80960" y="2468880"/>
            <a:ext cx="0" cy="292608"/>
          </a:xfrm>
          <a:prstGeom prst="line">
            <a:avLst/>
          </a:prstGeom>
          <a:noFill/>
          <a:ln w="158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818120" y="24505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探测:拿锁→泵→查→放锁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32720" y="2761488"/>
            <a:ext cx="0" cy="-292608"/>
          </a:xfrm>
          <a:prstGeom prst="line">
            <a:avLst/>
          </a:prstGeom>
          <a:noFill/>
          <a:ln w="15875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355080" y="248716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完成事件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37960" y="3611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等待多少、等多久,都不影响系统前进 —— 最坏是「可杀地睡着」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65836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18872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形态(A/B 背靠背)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总分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墙钟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基线(完成通知钩子分支)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2749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585.8s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排空等待(计划原稿形态)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2123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1399s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排空等待 + 撤唤醒补全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A580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1477s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终态:per-fence + 探测 32768 轮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2813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580.5s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30" name="Shape 27"/>
          <p:cNvSpPr/>
          <p:nvPr/>
        </p:nvSpPr>
        <p:spPr>
          <a:xfrm>
            <a:off x="7315200" y="4297680"/>
            <a:ext cx="4416552" cy="1143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/>
        </p:spPr>
      </p:sp>
      <p:sp>
        <p:nvSpPr>
          <p:cNvPr id="31" name="Text 28"/>
          <p:cNvSpPr/>
          <p:nvPr/>
        </p:nvSpPr>
        <p:spPr>
          <a:xfrm>
            <a:off x="7516368" y="4407408"/>
            <a:ext cx="4023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排空判据被持续提交饿死(terrain 崩到 1 FPS)→ 改等「本对象 fence」:FIFO 排序 ⇒ fenced 条目弹出时此前全部已弹出,饥饿在数学上不可能。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7315200" y="5577840"/>
            <a:ext cx="4416552" cy="731520"/>
          </a:xfrm>
          <a:prstGeom prst="roundRect">
            <a:avLst>
              <a:gd name="adj" fmla="val 6875"/>
            </a:avLst>
          </a:prstGeom>
          <a:solidFill>
            <a:srgbClr val="CCFBF1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0" y="5577840"/>
            <a:ext cx="4416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两轮审查 7 条意见全修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2026-10-02 合入 dev(11 提交 +574/−143)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· 稳定性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从三次冻结,到十轮浸泡零冻结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6309360" cy="896112"/>
          </a:xfrm>
          <a:prstGeom prst="roundRect">
            <a:avLst>
              <a:gd name="adj" fmla="val 5612"/>
            </a:avLst>
          </a:prstGeom>
          <a:solidFill>
            <a:srgbClr val="F8FAFC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49047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09-25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83080" y="14630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fence-spin 三变体挂死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83080" y="18105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ioctl 内无界自旋等待宿主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95728"/>
            <a:ext cx="6309360" cy="896112"/>
          </a:xfrm>
          <a:prstGeom prst="roundRect">
            <a:avLst>
              <a:gd name="adj" fmla="val 5612"/>
            </a:avLst>
          </a:prstGeom>
          <a:solidFill>
            <a:srgbClr val="F8FA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09-26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83080" y="2487168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490 秒 QueueBusy 事故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783080" y="28346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持锁等待无界 —— 有界失败生效,系统存活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6309360" cy="896112"/>
          </a:xfrm>
          <a:prstGeom prst="roundRect">
            <a:avLst>
              <a:gd name="adj" fmla="val 5612"/>
            </a:avLst>
          </a:prstGeom>
          <a:solidFill>
            <a:srgbClr val="FFF7E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53872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09-30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83080" y="3511296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K=3 在飞窗口实验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783080" y="3858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聚合深度常态 &gt;3,套件 4× 变慢(实验留分支存证)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06440" y="3675888"/>
            <a:ext cx="777240" cy="384048"/>
          </a:xfrm>
          <a:prstGeom prst="roundRect">
            <a:avLst>
              <a:gd name="adj" fmla="val 13095"/>
            </a:avLst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367588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证伪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6309360" cy="1371600"/>
          </a:xfrm>
          <a:prstGeom prst="roundRect">
            <a:avLst>
              <a:gd name="adj" fmla="val 3667"/>
            </a:avLst>
          </a:prstGeom>
          <a:solidFill>
            <a:srgbClr val="F0FDF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4709160"/>
            <a:ext cx="5897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共同根源 = 无界等待。终态:一切等待有界 —— 最坏形态是「单个任务可杀地睡着」,而不是 CPU 永远转、或锁永远被持有。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086600" y="1371600"/>
            <a:ext cx="4645152" cy="2880360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0" y="16002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 / 50</a:t>
            </a:r>
            <a:endParaRPr lang="en-US" sz="5400" dirty="0"/>
          </a:p>
        </p:txBody>
      </p:sp>
      <p:sp>
        <p:nvSpPr>
          <p:cNvPr id="23" name="Text 21"/>
          <p:cNvSpPr/>
          <p:nvPr/>
        </p:nvSpPr>
        <p:spPr>
          <a:xfrm>
            <a:off x="7315200" y="2606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重场景 5 项 × 10 轮浸泡 · 退出码全 0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15200" y="30175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零冻结 · 零超时告警 · 轮次分数无衰减(尾轮最高)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 轮一次宿主瞬时低谷被有界等待吸收后即恢复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—— 这个输入形态在旧栈正是会雪崩成卡死的类型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86600" y="4480560"/>
            <a:ext cx="4645152" cy="1463040"/>
          </a:xfrm>
          <a:prstGeom prst="roundRect">
            <a:avLst>
              <a:gd name="adj" fmla="val 3438"/>
            </a:avLst>
          </a:prstGeom>
          <a:solidFill>
            <a:srgbClr val="F8FAFC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461772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宿主侧丢完成(QEMU 11.1 virtio-gpu 与 virglrenderer 交互问题):guest 侧防不住 —— 现状:5 秒超时 + EBUSY 重试 / 复位恢复,串口 warn 可见,不再永久卡死。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· 代码形状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组件化:让同一份驱动服务所有组合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2070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可复用包(no_std + alloc)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17904"/>
            <a:ext cx="2697480" cy="777240"/>
          </a:xfrm>
          <a:prstGeom prst="roundRect">
            <a:avLst>
              <a:gd name="adj" fmla="val 6471"/>
            </a:avLst>
          </a:prstGeom>
          <a:solidFill>
            <a:srgbClr val="F0FDF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17904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virtio-gpu crate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协议 + 异步控制队列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32304"/>
            <a:ext cx="2697480" cy="777240"/>
          </a:xfrm>
          <a:prstGeom prst="roundRect">
            <a:avLst>
              <a:gd name="adj" fmla="val 6471"/>
            </a:avLst>
          </a:prstGeom>
          <a:solidFill>
            <a:srgbClr val="F0FDF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432304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ax-driver VirtIoGpu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适配与 Hal 实现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346704"/>
            <a:ext cx="2697480" cy="777240"/>
          </a:xfrm>
          <a:prstGeom prst="roundRect">
            <a:avLst>
              <a:gd name="adj" fmla="val 6471"/>
            </a:avLst>
          </a:prstGeom>
          <a:solidFill>
            <a:srgbClr val="F0FDF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346704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rdif-gpu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VirglOps 合同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06240" y="12070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跨层合同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6240" y="1975104"/>
            <a:ext cx="2651760" cy="1234440"/>
          </a:xfrm>
          <a:prstGeom prst="roundRect">
            <a:avLst>
              <a:gd name="adj" fmla="val 4074"/>
            </a:avLst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4206240" y="1975104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axklib:Klib trait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mem_iomap / virt_to_phys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时钟注入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498080" y="12070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OS 适配层(贴近内核)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98080" y="1517904"/>
            <a:ext cx="4233672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0" y="1517904"/>
            <a:ext cx="4233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axruntime KlibImpl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 axmm / axhal 实现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98080" y="2432304"/>
            <a:ext cx="4233672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0" y="2432304"/>
            <a:ext cx="4233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axgpu 门面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with_gpu / wait_completion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98080" y="3346704"/>
            <a:ext cx="4233672" cy="777240"/>
          </a:xfrm>
          <a:prstGeom prst="roundRect">
            <a:avLst>
              <a:gd name="adj" fmla="val 6471"/>
            </a:avLst>
          </a:prstGeom>
          <a:solidFill>
            <a:srgbClr val="F8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3346704"/>
            <a:ext cx="4233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card0(DRM UAPI)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errno 对齐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172968" y="2743200"/>
            <a:ext cx="1014984" cy="-91440"/>
          </a:xfrm>
          <a:prstGeom prst="line">
            <a:avLst/>
          </a:prstGeom>
          <a:noFill/>
          <a:ln w="19050">
            <a:solidFill>
              <a:srgbClr val="0F766E"/>
            </a:solidFill>
            <a:prstDash val="dash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3127248" y="21031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只依赖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766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trait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79792" y="2212848"/>
            <a:ext cx="-603504" cy="256032"/>
          </a:xfrm>
          <a:prstGeom prst="line">
            <a:avLst/>
          </a:prstGeom>
          <a:noFill/>
          <a:ln w="28575">
            <a:solidFill>
              <a:srgbClr val="EA580C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6903720" y="1810512"/>
            <a:ext cx="530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提供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A580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206240" y="331012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时钟注入:monotonic_nanos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4434840"/>
            <a:ext cx="2734056" cy="1143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Completion #[must_use]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4919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丢弃令牌 = 编译错误,强制观察每次 fenced 释放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300984" y="4434840"/>
            <a:ext cx="2734056" cy="1143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483864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require_virgl() 门控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483864" y="4919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能力未协商即域错误,不发未定义命令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44768" y="4434840"/>
            <a:ext cx="2734056" cy="1143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27648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has_display_controller()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327648" y="4919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GPU 配置不 panic —— 节点存在 ≠ 设备存在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988552" y="4434840"/>
            <a:ext cx="2734056" cy="114300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2700000">
              <a:srgbClr val="0F172A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171432" y="4572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errno 对齐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9171432" y="491947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NotReady→EAGAIN · TimedOut→ETIMEDOUT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7200" y="5806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收益:纯 2D CI、无 GPU 配置与 3D 全功能路径共用同一份驱动代码;三次大规模上游重构的迁移成本被合同收敛在少数几个文件里。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· 成果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性能轨迹与提交清单</a:t>
            </a:r>
            <a:endParaRPr lang="en-US" sz="2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67208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623560"/>
            <a:ext cx="672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混合口径:第 7 项为 offscreen FPS,第 8–10 项为 texture 单场景 FPS,其余为套件总分;rebase 跳变来自上游新底座自身改进,3040 与 2813 的差异 = 宿主状态与场景波动(意义在稳定性)。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325880"/>
          <a:ext cx="4325112" cy="914400"/>
        </p:xfrm>
        <a:graphic>
          <a:graphicData uri="http://schemas.openxmlformats.org/drawingml/2006/table">
            <a:tbl>
              <a:tblPr/>
              <a:tblGrid>
                <a:gridCol w="3136392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拉取请求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状态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tgoskits #1415 · doom 测试+DRM 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合入 07-08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virtio-drivers #257 · 3D/blob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合入 08-14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virtio-drivers #258 · 清理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合入 08-17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tgoskits #2483 · 同步版集成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合入 09-22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tgoskits #2536 · 异步+真 fence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合入 09-29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tgoskits #2557 · 锁外等待改造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766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合入 10-02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580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virtio-drivers #265 · 异步队列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开放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406640" y="5349240"/>
            <a:ext cx="4325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个拉取请求 · 6 合入 1 开放;13 个功能/优化提交进入主线。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测量资产与 virgl-test 应用沉淀在仓库内,既是验收工具也是回归门禁。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84280" y="64190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4B8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· 边界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如实声明:未完成与后续工作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1024128"/>
          </a:xfrm>
          <a:prstGeom prst="roundRect">
            <a:avLst>
              <a:gd name="adj" fmla="val 4911"/>
            </a:avLst>
          </a:prstGeom>
          <a:solidFill>
            <a:srgbClr val="F8FAFC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08760" y="15453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#265(上游 crate)待合入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194767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texfix 12 轮 + 40 轮全套件浸泡未跑;Phase 3 两决策项(在飞窗口 / 完成回调收割)由 soak 数据触发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587752"/>
            <a:ext cx="11274552" cy="1024128"/>
          </a:xfrm>
          <a:prstGeom prst="roundRect">
            <a:avLst>
              <a:gd name="adj" fmla="val 4911"/>
            </a:avLst>
          </a:prstGeom>
          <a:solidFill>
            <a:srgbClr val="F0FDFA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86207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08760" y="27157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剩余约 2× 性能差距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31181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主战场 = syscall 入口税(7.9×)+ socket 单价(24.8×)—— 内核级问题,影响所有系统调用,需单独立项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758184"/>
            <a:ext cx="11274552" cy="1024128"/>
          </a:xfrm>
          <a:prstGeom prst="roundRect">
            <a:avLst>
              <a:gd name="adj" fmla="val 4911"/>
            </a:avLst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03250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08760" y="38862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宿主侧丢完成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08760" y="428853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QEMU 11.1 virtio-gpu 与 virglrenderer 交互问题,guest 防不住;现状 = 5s 超时 + EBUSY 重试/复位恢复,有界兜底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4928616"/>
            <a:ext cx="11274552" cy="1024128"/>
          </a:xfrm>
          <a:prstGeom prst="roundRect">
            <a:avLst>
              <a:gd name="adj" fmla="val 4911"/>
            </a:avLst>
          </a:prstGeom>
          <a:solidFill>
            <a:srgbClr val="F8FAFC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5202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08760" y="505663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多架构验证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508760" y="545896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aarch64 / riscv64 / loongarch64 本地缺交叉工具链,由 CI 覆盖;virtio-gpu 为虚拟化 GPU,不涉实体板卡路径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三点方法论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3694176" cy="25146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1031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先造标尺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13232" y="29718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 Alpine 对照与同机 A/B 纪律,后面每一个百分比都无从谈起。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42816" y="1874520"/>
            <a:ext cx="3694176" cy="25146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4498848" y="21031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每个结论都要有反事实实验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498848" y="29718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异步化失败、K=3 证伪、kick 假设证伪 —— 失败的数据与成功修复同样值钱,几次最大收益恰恰来自顺着失败线索往下挖。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1874520"/>
            <a:ext cx="3694176" cy="25146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8284464" y="21031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真相几乎总不在最初怀疑的地方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84464" y="29718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2E8F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attach 风暴藏在死字段里,fence 问题藏在版本号里,地址翻译 bug 藏在重构新出现的地址窗口里。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剩下的一半差距,账本已经写清在哪里 —— 那是下一阶段的地图。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 · Q&amp;A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在 StarryOS 上实现虚拟化 GPU 3D 加速——实习答辩</dc:title>
  <dc:subject>PptxGenJS Presentation</dc:subject>
  <dc:creator>周宇聪</dc:creator>
  <cp:lastModifiedBy>周宇聪</cp:lastModifiedBy>
  <cp:revision>1</cp:revision>
  <dcterms:created xsi:type="dcterms:W3CDTF">2026-10-02T10:56:44Z</dcterms:created>
  <dcterms:modified xsi:type="dcterms:W3CDTF">2026-10-02T10:56:44Z</dcterms:modified>
</cp:coreProperties>
</file>