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png" ContentType="image/png"/>
  <Default Extension="jpeg" ContentType="image/jpeg"/>
  <Default Extension="xlsx" ContentType="application/vnd.openxmlformats-officedocument.spreadsheetml.sheet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notesSlides/notesSlide13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12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 Linux 的倍数</c:v>
                </c:pt>
              </c:strCache>
            </c:strRef>
          </c:tx>
          <c:spPr bwMode="auto">
            <a:prstGeom prst="rect">
              <a:avLst/>
            </a:prstGeom>
            <a:solidFill>
              <a:srgbClr val="99F6E4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99F6E4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99F6E4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5EEAD4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 bwMode="auto">
              <a:prstGeom prst="rect">
                <a:avLst/>
              </a:prstGeom>
              <a:solidFill>
                <a:srgbClr val="EA580C"/>
              </a:solidFill>
              <a:effectLst/>
            </c:spPr>
          </c:dPt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微软雅黑"/>
                  </a:defRPr>
                </a:pPr>
                <a:endParaRPr/>
              </a:p>
            </c:txPr>
          </c:dLbls>
          <c:cat>
            <c:multiLvlStrRef>
              <c:f>Sheet1!$A$2:$A$7</c:f>
              <c:multiLvlStrCache>
                <c:ptCount val="6"/>
                <c:lvl>
                  <c:pt idx="0">
                    <c:v>用户态编码</c:v>
                  </c:pt>
                  <c:pt idx="1">
                    <c:v>Weston 分派</c:v>
                  </c:pt>
                  <c:pt idx="2">
                    <c:v>唤醒/调度</c:v>
                  </c:pt>
                  <c:pt idx="3">
                    <c:v>GPU ioctl</c:v>
                  </c:pt>
                  <c:pt idx="4">
                    <c:v>辅助轮次</c:v>
                  </c:pt>
                  <c:pt idx="5">
                    <c:v>Wayland socket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</c:v>
                </c:pt>
                <c:pt idx="1">
                  <c:v>4</c:v>
                </c:pt>
                <c:pt idx="2">
                  <c:v>5.9</c:v>
                </c:pt>
                <c:pt idx="3">
                  <c:v>6.5</c:v>
                </c:pt>
                <c:pt idx="4">
                  <c:v>10.9</c:v>
                </c:pt>
                <c:pt idx="5">
                  <c:v>52.9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200" b="0" i="0" u="none" strike="noStrike">
                  <a:solidFill>
                    <a:srgbClr val="1E293B"/>
                  </a:solidFill>
                  <a:latin typeface="微软雅黑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.000000"/>
        </c:scaling>
        <c:delete val="0"/>
        <c:axPos val="b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492240" y="1371600"/>
      <a:ext cx="5239512" cy="365760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StarryOS(混合口径)</c:v>
                </c:pt>
              </c:strCache>
            </c:strRef>
          </c:tx>
          <c:spPr bwMode="auto">
            <a:prstGeom prst="rect">
              <a:avLst/>
            </a:prstGeom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Sheet1!$A$2:$A$14</c:f>
              <c:multiLvlStrCache>
                <c:ptCount val="13"/>
                <c:lvl>
                  <c:pt idx="0">
                    <c:v>初跑</c:v>
                  </c:pt>
                  <c:pt idx="1">
                    <c:v>FENCE</c:v>
                  </c:pt>
                  <c:pt idx="2">
                    <c:v>attach</c:v>
                  </c:pt>
                  <c:pt idx="3">
                    <c:v>全异步</c:v>
                  </c:pt>
                  <c:pt idx="4">
                    <c:v>kick</c:v>
                  </c:pt>
                  <c:pt idx="5">
                    <c:v>fencefd</c:v>
                  </c:pt>
                  <c:pt idx="6">
                    <c:v>IRQ</c:v>
                  </c:pt>
                  <c:pt idx="7">
                    <c:v>epoll</c:v>
                  </c:pt>
                  <c:pt idx="8">
                    <c:v>噪音</c:v>
                  </c:pt>
                  <c:pt idx="9">
                    <c:v>rebase</c:v>
                  </c:pt>
                  <c:pt idx="10">
                    <c:v>fenceRT</c:v>
                  </c:pt>
                  <c:pt idx="11">
                    <c:v>合入</c:v>
                  </c:pt>
                  <c:pt idx="12">
                    <c:v>锁外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</c:v>
                </c:pt>
                <c:pt idx="1">
                  <c:v>405</c:v>
                </c:pt>
                <c:pt idx="2">
                  <c:v>406</c:v>
                </c:pt>
                <c:pt idx="3">
                  <c:v>439</c:v>
                </c:pt>
                <c:pt idx="4">
                  <c:v>539</c:v>
                </c:pt>
                <c:pt idx="5">
                  <c:v>637</c:v>
                </c:pt>
                <c:pt idx="6">
                  <c:v>1141</c:v>
                </c:pt>
                <c:pt idx="7">
                  <c:v>813</c:v>
                </c:pt>
                <c:pt idx="8">
                  <c:v>924</c:v>
                </c:pt>
                <c:pt idx="9">
                  <c:v>1423</c:v>
                </c:pt>
                <c:pt idx="10">
                  <c:v>2461</c:v>
                </c:pt>
                <c:pt idx="11">
                  <c:v>3040</c:v>
                </c:pt>
                <c:pt idx="12">
                  <c:v>2813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同机 Linux 参考线</c:v>
                </c:pt>
              </c:strCache>
            </c:strRef>
          </c:tx>
          <c:spPr bwMode="auto">
            <a:prstGeom prst="rect">
              <a:avLst/>
            </a:prstGeom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Sheet1!$A$2:$A$14</c:f>
              <c:multiLvlStrCache>
                <c:ptCount val="13"/>
                <c:lvl>
                  <c:pt idx="0">
                    <c:v>初跑</c:v>
                  </c:pt>
                  <c:pt idx="1">
                    <c:v>FENCE</c:v>
                  </c:pt>
                  <c:pt idx="2">
                    <c:v>attach</c:v>
                  </c:pt>
                  <c:pt idx="3">
                    <c:v>全异步</c:v>
                  </c:pt>
                  <c:pt idx="4">
                    <c:v>kick</c:v>
                  </c:pt>
                  <c:pt idx="5">
                    <c:v>fencefd</c:v>
                  </c:pt>
                  <c:pt idx="6">
                    <c:v>IRQ</c:v>
                  </c:pt>
                  <c:pt idx="7">
                    <c:v>epoll</c:v>
                  </c:pt>
                  <c:pt idx="8">
                    <c:v>噪音</c:v>
                  </c:pt>
                  <c:pt idx="9">
                    <c:v>rebase</c:v>
                  </c:pt>
                  <c:pt idx="10">
                    <c:v>fenceRT</c:v>
                  </c:pt>
                  <c:pt idx="11">
                    <c:v>合入</c:v>
                  </c:pt>
                  <c:pt idx="12">
                    <c:v>锁外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6900</c:v>
                </c:pt>
                <c:pt idx="1">
                  <c:v>6900</c:v>
                </c:pt>
                <c:pt idx="2">
                  <c:v>6900</c:v>
                </c:pt>
                <c:pt idx="3">
                  <c:v>6900</c:v>
                </c:pt>
                <c:pt idx="4">
                  <c:v>6900</c:v>
                </c:pt>
                <c:pt idx="5">
                  <c:v>6900</c:v>
                </c:pt>
                <c:pt idx="6">
                  <c:v>6900</c:v>
                </c:pt>
                <c:pt idx="7">
                  <c:v>6900</c:v>
                </c:pt>
                <c:pt idx="8">
                  <c:v>6900</c:v>
                </c:pt>
                <c:pt idx="9">
                  <c:v>6900</c:v>
                </c:pt>
                <c:pt idx="10">
                  <c:v>6900</c:v>
                </c:pt>
                <c:pt idx="11">
                  <c:v>6900</c:v>
                </c:pt>
                <c:pt idx="12">
                  <c:v>6900</c:v>
                </c:pt>
              </c:numCache>
            </c:numRef>
          </c:val>
          <c:smooth val="0"/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4748B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E293B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325880"/>
      <a:ext cx="6720840" cy="4160519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5964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54582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1927736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2095845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139945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189289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354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39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【30 秒】各位老师好,我汇报今年 7 月到 10 月在 rcore-os 社区的实习工作:给 StarryOS 实现 virgl 虚拟化 GPU 3D 加速,并把它做到接近同机 Linux 虚拟机的性能。整个工作可以浓缩成一句话——从「GPU 不支持」,到 Weston + glmark2 完整跑通 33 个场景、3000 分上下。</a:t>
            </a:r>
            <a:endParaRPr lang="en-US"/>
          </a:p>
        </p:txBody>
      </p:sp>
      <p:sp>
        <p:nvSpPr>
          <p:cNvPr id="1778579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782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4419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【45 秒】先给结论。功能上,StarryOS 的 Mesa 用户态一行没改,渲染器识别为 virgl,渲染发生在宿主机真实 GPU 上。性能上,glmark2 总分从第一次跑通的 69 分提升到 3000 分上下,渲染循环帧时间从 2.17 毫秒压到 0.33 毫秒。工程上,向两个仓库提交了 7 个拉取请求,6 个已合入主线,剩 1 个在上游 virtio-drivers 开放。正确性上,guest 侧三类会整机冻结的结构性缺陷被根除,重场景 10 轮浸泡测试零冻结。接下来按「怎么做到的」展开。</a:t>
            </a:r>
            <a:endParaRPr lang="en-US"/>
          </a:p>
        </p:txBody>
      </p:sp>
      <p:sp>
        <p:nvSpPr>
          <p:cNvPr id="1651786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815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320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【45 秒】动手前先造标尺。同一个 QEMU 宿主机,先跑 Alpine Linux 虚拟机做参照,再保持其它变量完全一致、只把内核换成 StarryOS。结论有两条:硬件加速对图形场景是数量级的收益;两侧用户态完全相同,差距全部来自内核侧。从此以后所有性能结论都遵守一条纪律——同机、同用户态、唯一变量、背靠背 A/B。</a:t>
            </a:r>
            <a:endParaRPr lang="en-US"/>
          </a:p>
        </p:txBody>
      </p:sp>
      <p:sp>
        <p:nvSpPr>
          <p:cNvPr id="1033290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293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4103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【60 秒】这是最终落地的软件栈,自上而下五层:内核 DRM 层 card0 实现 Linux 同款 VIRTGPU ioctl;axgpu 门面提供锁外等待原语;rdif-gpu 用 VirglOps trait 定义驱动合同;ax-driver 做平台适配;最底层是 virtio-gpu 驱动的异步控制队列。命令经 virtqueue 发给 QEMU,virglrenderer 翻译成宿主 GL 调用,真实 GPU 渲染。理解性能问题的钥匙是「一帧的生命周期」:从应用画一帧,到 Mesa 编码成命令流,到 EXECBUFFER 提交,到宿主渲染完成、fence 通知回来、最后上屏。所有优化就是两个方向:减少每个环节的固定开销,以及让 guest 和宿主的活重叠起来。</a:t>
            </a:r>
            <a:endParaRPr lang="en-US"/>
          </a:p>
        </p:txBody>
      </p:sp>
      <p:sp>
        <p:nvSpPr>
          <p:cNvPr id="2014993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562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379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【60 秒】性能战役的纲是这一页。改造前上游驱动是全同步的:每条命令入队、kick、自旋等宿主应答,其中提交命令要一直阻塞到渲染完成——宿主干活的时候 guest 完全空转。目标形态对齐 Linux:热路径命令 fire-and-forget 入队即返回,唯一保留的等待是 fence。这样帧时间就变成两者的最大值,流水线重叠起来。但请记住一个伏笔:只把「看得见」的同步点异步化,实测反而更慢——真正的工作是把每帧隐藏的同步点全部数出来。</a:t>
            </a:r>
            <a:endParaRPr lang="en-US"/>
          </a:p>
        </p:txBody>
      </p:sp>
      <p:sp>
        <p:nvSpPr>
          <p:cNvPr id="1391717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969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9953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【60 秒】第一阶段打通功能。参照物是 Linux 内核 virtio 驱动、virtio_gpu 头文件和 Mesa 的 virgl 协议定义;然后在 virtio-drivers 里扩展 3D 命令面,向上经接口层、OS 模块层封装,在内核实现 11 个 VIRTGPU ioctl。三类典型问题:一是 Mesa 不认卡:sysfs 驱动名、renderD128 节点、ioctl 结构体布局、GETPARAM 的指针语义,四处和 Linux 失配,逐一修正后渲染器才识别为 virgl。二是黑屏:渲染其实已经在宿主 GPU 上发生了,但 present 路径只会拷 guest 内存——把 framebuffer 按来源分成 dumb 和 Gpu3d 两类,后者走 set_scanout 让宿主零拷贝上屏。到第 5 周,glmark2 完整出分,比计划提前了两周。</a:t>
            </a:r>
            <a:endParaRPr lang="en-US"/>
          </a:p>
        </p:txBody>
      </p:sp>
      <p:sp>
        <p:nvSpPr>
          <p:cNvPr id="1399141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29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2769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【40 秒】第二阶段是性能战役,先讲方法。每个优化都走同一个循环:提出猜想,设计能证伪它的实验,修改,同机 A/B,数据裁决保留还是回滚。归因不靠猜,靠一套逐步建起来的测量资产。还有一条昂贵换来的纪律:串口日志每行大约是一百 FPS 级的开销,任何测量必须先关日志。</a:t>
            </a:r>
            <a:endParaRPr lang="en-US"/>
          </a:p>
        </p:txBody>
      </p:sp>
      <p:sp>
        <p:nvSpPr>
          <p:cNvPr id="782136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508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5904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【75 秒】第一刀砍向最显眼的同步点,结果失败了:只异步化提交和上屏,反而从 405 掉到 362、357。这个失败是关键线索——异步机器没问题,是没打中。把每帧的同步点全部数了一遍:还有 47 个同步往返藏在资源创建、挂载、销毁、上传里。用 QEMU tracepoint 数命令:每帧资源挂载 36.5 次,而 Linux 是 0。根因在我自己的 DRM 层,EXECBUFFER 每次提交都对每个缓冲重新挂载;讽刺的是代码里本来有个 attached 标志想记录这件事,但它是个死字段,5 处写、0 处读。对照 Linux 修成每个上下文每资源只挂一次,406 分;再把剩余 18 个同步往返全部 fire-and-forget,439 分。到这里每帧同步往返清零,收益和移除的往返数严格线性。</a:t>
            </a:r>
            <a:endParaRPr lang="en-US"/>
          </a:p>
        </p:txBody>
      </p:sp>
      <p:sp>
        <p:nvSpPr>
          <p:cNvPr id="2077827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97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620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【75 秒】接着是三个看不见的浪费。第一,kick:每个 kick 是一次 VM-exit,照 Linux 的做法把合并单位从「命令条数」改成「一次系统调用」,ioctl 单价降到 35 微秒。第二,fence:发现每帧凭空多出一个 8×1 像素的小资源,LD_PRELOAD 加反汇编追到 Mesa 源码——它认为我的驱动不支持 fence-fd,退化到 legacy 模式;根因是版本协商里 minor 号写成了 0。实现真实 fence 语义后,Mesa 侧的假资源归零。第三,两个自己造的循环:PollSet 环形替换加上从不注销的 waker,变成「唤醒上一个自己」的无限自循环;再加 refresher、串口、网卡三处毫秒级轮询噪音。修掉之后 texture 从 500 上下走到 924。</a:t>
            </a:r>
            <a:endParaRPr lang="en-US"/>
          </a:p>
        </p:txBody>
      </p:sp>
      <p:sp>
        <p:nvSpPr>
          <p:cNvPr id="2120709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0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384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【60 秒】瀑布插桩带来一个重要修正:系统里其实是两条循环——渲染循环每秒约 900 次,合成循环只有 88 次,以前混成一条「帧」算账,账本是错的。重测后的账本:差距 5.8 倍,最大单项是 Wayland socket 系统调用,370 微秒,52.9 倍;用户态编码两边完全相同,80 微秒,这是物理地板。三方微基准把差距分解成三层:syscall 入口税 7.9 倍,socket 本体 24.8 倍,唤醒调度 21 倍。结论:等待已经没有浪费,剩余差距全是单价问题——超出 GPU 驱动范围,列入后续工作。</a:t>
            </a:r>
            <a:endParaRPr lang="en-US"/>
          </a:p>
        </p:txBody>
      </p:sp>
      <p:sp>
        <p:nvSpPr>
          <p:cNvPr id="1877934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125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293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【60 秒】九月中段插了个硬仗:上游把调度、内存、CPU 三大底座全部重构,分支逐块 rebase。编译通过后 3D 初始化却失败了,命令合法、宿主也收到。七项假设逐项证伪后,靠一个不经过我任何代码的纯 upstream 对照实验锁定差异点:我 fork 里的零拷贝把调用者栈借给设备 DMA,而新底座的任务栈是 vmap 的,不在线性映射窗口,线性偏移公式算出的物理地址实际指向用户代码页——QEMU 直接读内存取证实锤。这个故事有后续:逐页查页表的修复后来演化成更简单的终态——异步热路径把命令全部拷进驱动自有、地址稳定的 arena,问题在结构上消失;仅存的零拷贝同步路径只剩初始化查询,把「必须传分配器内存」写进了代码契约。</a:t>
            </a:r>
            <a:endParaRPr lang="en-US"/>
          </a:p>
        </p:txBody>
      </p:sp>
      <p:sp>
        <p:nvSpPr>
          <p:cNvPr id="1102596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67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40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【45 秒】新底座上的账本显示,差距不再分散而是高度集中:宿主已完成的 fence,要等下一个 1 毫秒的轮询节拍才被通知,满载下还被拖到 1.6 毫秒——41 倍延迟就是这么来的,Linux 走的是中断即时路径。先把完成改成实时线程即时通知做验证:texture 提升 71% 到 81%,总分进 2400 档。方向确认后,完整的事件化和等待结构改造进入下一阶段的工程化。</a:t>
            </a:r>
            <a:endParaRPr lang="en-US"/>
          </a:p>
        </p:txBody>
      </p:sp>
      <p:sp>
        <p:nvSpPr>
          <p:cNvPr id="1634469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217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5469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【60 秒】第三阶段把实验版变成可合入的工程。异步控制队列的难点不在发出去,而在各种组合下不死锁、不丢命令:kick 策略取「阈值判定加事件去重」的折中;同步命令和异步命令同队列共存;DMA 命令字节住进固定 arena。33 场景 A/B 平均提升 24.6%。主线合入分两步:先合入语义正确的同步版,再在新栈重构之后把异步语义作为增量重放,合入后 33 场景完整跑完 3040 分。期间还抓到一个规格级正确性缺陷:virtio 环绕点跨过 65536 之后,kick 判定恒为假,宿主从此收不到任何通知;修复是边界 kick 恒发 MMIO,同机 A/B 提升 57%。</a:t>
            </a:r>
            <a:endParaRPr lang="en-US"/>
          </a:p>
        </p:txBody>
      </p:sp>
      <p:sp>
        <p:nvSpPr>
          <p:cNvPr id="1298557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655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2710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【75 秒】最后一块结构性改造。此前三次 guest 冻结事故有一个共同根源:等待者在全局设备锁的临界区里自旋,而等待者持有的锁,正是完成泵推进水位所需要的锁。对照 Linux:整个驱动只有四个阻塞点,全部是睡眠等待;它永不卡死的结构性事实是,完成推进所需的资源和任何等待者持有的资源交集为空。两个形态修正都是 A/B 逼出来的:计划原稿的「全队列排空等待」被持续提交饿死,只有 2123 分,撤掉唤醒补全更是 54 分;改成等待本对象的 fence,FIFO 排序保证饥饿在数学上不可能。纯睡眠在 QEMU 同步处理 kick 的现实下每帧付一次唤醒跳,所以最终是「锁间有界探测 + 锁外睡眠」。终态 2813 分,逐场景无一劣化,两轮审查 7 条意见全部修复,10 月 2 日合入主线。</a:t>
            </a:r>
            <a:endParaRPr lang="en-US"/>
          </a:p>
        </p:txBody>
      </p:sp>
      <p:sp>
        <p:nvSpPr>
          <p:cNvPr id="1473352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9707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08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【45 秒】换个视角看代码留下的形状。GPU 栈按仓库分层约定切分:协议与队列在可复用包里,no_std 加 alloc,不依赖任何 OS;跨层服务走 axklib 的 trait 合同,由运行时注入实现;错误域在组件边界显式翻译成 Linux errno。这些边界不是形式:同一份驱动跑着纯 2D 的 CI 配置和无 GPU 配置,也让三次大规模上游重构的迁移成本收敛在少数几个文件里。</a:t>
            </a:r>
            <a:endParaRPr lang="en-US"/>
          </a:p>
        </p:txBody>
      </p:sp>
      <p:sp>
        <p:nvSpPr>
          <p:cNvPr id="1323188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219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47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【45 秒】汇总成果。轨迹图上有两个跳变要说明:rebase 新底座那跳来自上游调度和内存改进本身;3040 和 2813 的差异主要是宿主状态与场景组成的波动,后者的意义在稳定性而非分数。提交记录:两个仓库 7 个拉取请求,6 个已合入——包括 virtio-drivers 的 3D 支持、主线上的同步版、异步加真 fence、以及刚合入的锁外等待改造;开放的 1 个是上游 crate 的异步控制队列,语义已随主线进入 tgoskits。</a:t>
            </a:r>
            <a:endParaRPr lang="en-US"/>
          </a:p>
        </p:txBody>
      </p:sp>
      <p:sp>
        <p:nvSpPr>
          <p:cNvPr id="991022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942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5334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【40 秒】如实声明边界。性能还剩约两倍差距,账本写得很清楚:主战场已经不在 GPU 驱动,是 syscall 入口税和 socket 单价这两个内核级问题,需要单独立项。稳定性上还有两轮更大的浸泡没跑,Phase 3 的两个决策项等这份数据触发。宿主侧丢完成是 QEMU 和 virglrenderer 的交互问题,任何 guest 侧改造都防不住,现在靠有界等待兜底。其它架构的验证由 CI 覆盖。</a:t>
            </a:r>
            <a:endParaRPr lang="en-US"/>
          </a:p>
        </p:txBody>
      </p:sp>
      <p:sp>
        <p:nvSpPr>
          <p:cNvPr id="734736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415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209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【30 秒】总结三点方法论。第一,先造标尺——没有 Alpine 对照和 A/B 纪律,后面每个百分比都无从谈起。第二,每个结论都要有反事实实验——异步化失败、K=3 证伪、kick 假设证伪,这些失败的数据和成功修复同样重要。第三,性能问题的真相几乎总不在最初怀疑的地方。剩下的一半差距账本已经写清在哪里,那是下一阶段的地图。谢谢大家,欢迎提问。</a:t>
            </a:r>
            <a:endParaRPr lang="en-US"/>
          </a:p>
        </p:txBody>
      </p:sp>
      <p:sp>
        <p:nvSpPr>
          <p:cNvPr id="389700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71637" name="Text 0"/>
          <p:cNvSpPr/>
          <p:nvPr/>
        </p:nvSpPr>
        <p:spPr bwMode="auto"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rcore-os · TGOSKits 开源社区实习汇报</a:t>
            </a:r>
            <a:endParaRPr lang="en-US" sz="1300"/>
          </a:p>
        </p:txBody>
      </p:sp>
      <p:sp>
        <p:nvSpPr>
          <p:cNvPr id="69920321" name="Text 1"/>
          <p:cNvSpPr/>
          <p:nvPr/>
        </p:nvSpPr>
        <p:spPr bwMode="auto">
          <a:xfrm>
            <a:off x="457200" y="1783080"/>
            <a:ext cx="11247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 StarryOS 上实现</a:t>
            </a:r>
            <a:endParaRPr lang="en-US" sz="4000"/>
          </a:p>
          <a:p>
            <a:pPr marL="0" indent="0" algn="l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虚拟化 GPU 3D 加速</a:t>
            </a:r>
            <a:endParaRPr lang="en-US" sz="4000"/>
          </a:p>
        </p:txBody>
      </p:sp>
      <p:sp>
        <p:nvSpPr>
          <p:cNvPr id="2061092866" name="Text 2"/>
          <p:cNvSpPr/>
          <p:nvPr/>
        </p:nvSpPr>
        <p:spPr bwMode="auto">
          <a:xfrm>
            <a:off x="457200" y="3474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从「GPU 不支持」到 3000 分:virgl 驱动实现与性能优化全记录</a:t>
            </a:r>
            <a:endParaRPr lang="en-US" sz="1600"/>
          </a:p>
        </p:txBody>
      </p:sp>
      <p:sp>
        <p:nvSpPr>
          <p:cNvPr id="1395017347" name="Shape 3"/>
          <p:cNvSpPr/>
          <p:nvPr/>
        </p:nvSpPr>
        <p:spPr bwMode="auto">
          <a:xfrm>
            <a:off x="457200" y="4343400"/>
            <a:ext cx="3758184" cy="1051560"/>
          </a:xfrm>
          <a:prstGeom prst="roundRect">
            <a:avLst>
              <a:gd name="adj" fmla="val 4783"/>
            </a:avLst>
          </a:prstGeom>
          <a:solidFill>
            <a:srgbClr val="1E293B"/>
          </a:solidFill>
          <a:ln/>
        </p:spPr>
      </p:sp>
      <p:sp>
        <p:nvSpPr>
          <p:cNvPr id="1968182954" name="Text 4"/>
          <p:cNvSpPr/>
          <p:nvPr/>
        </p:nvSpPr>
        <p:spPr bwMode="auto">
          <a:xfrm>
            <a:off x="685800" y="4498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69 → 3000+</a:t>
            </a:r>
            <a:endParaRPr lang="en-US" sz="2400"/>
          </a:p>
        </p:txBody>
      </p:sp>
      <p:sp>
        <p:nvSpPr>
          <p:cNvPr id="1955351946" name="Text 5"/>
          <p:cNvSpPr/>
          <p:nvPr/>
        </p:nvSpPr>
        <p:spPr bwMode="auto">
          <a:xfrm>
            <a:off x="685800" y="49743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glmark2 总分(同机 Linux 6100~7000)</a:t>
            </a:r>
            <a:endParaRPr lang="en-US" sz="1200"/>
          </a:p>
        </p:txBody>
      </p:sp>
      <p:sp>
        <p:nvSpPr>
          <p:cNvPr id="931892756" name="Shape 6"/>
          <p:cNvSpPr/>
          <p:nvPr/>
        </p:nvSpPr>
        <p:spPr bwMode="auto">
          <a:xfrm>
            <a:off x="4306824" y="4343400"/>
            <a:ext cx="3758184" cy="1051560"/>
          </a:xfrm>
          <a:prstGeom prst="roundRect">
            <a:avLst>
              <a:gd name="adj" fmla="val 4783"/>
            </a:avLst>
          </a:prstGeom>
          <a:solidFill>
            <a:srgbClr val="1E293B"/>
          </a:solidFill>
          <a:ln/>
        </p:spPr>
      </p:sp>
      <p:sp>
        <p:nvSpPr>
          <p:cNvPr id="1711822603" name="Text 7"/>
          <p:cNvSpPr/>
          <p:nvPr/>
        </p:nvSpPr>
        <p:spPr bwMode="auto">
          <a:xfrm>
            <a:off x="4535424" y="4498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6 / 6</a:t>
            </a:r>
            <a:endParaRPr lang="en-US" sz="2400"/>
          </a:p>
        </p:txBody>
      </p:sp>
      <p:sp>
        <p:nvSpPr>
          <p:cNvPr id="1644124553" name="Text 8"/>
          <p:cNvSpPr/>
          <p:nvPr/>
        </p:nvSpPr>
        <p:spPr bwMode="auto">
          <a:xfrm>
            <a:off x="4535424" y="49743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拉取请求已合入主线</a:t>
            </a:r>
            <a:endParaRPr lang="en-US" sz="1200"/>
          </a:p>
        </p:txBody>
      </p:sp>
      <p:sp>
        <p:nvSpPr>
          <p:cNvPr id="443281371" name="Shape 9"/>
          <p:cNvSpPr/>
          <p:nvPr/>
        </p:nvSpPr>
        <p:spPr bwMode="auto">
          <a:xfrm>
            <a:off x="8156448" y="4343400"/>
            <a:ext cx="3758184" cy="1051560"/>
          </a:xfrm>
          <a:prstGeom prst="roundRect">
            <a:avLst>
              <a:gd name="adj" fmla="val 4783"/>
            </a:avLst>
          </a:prstGeom>
          <a:solidFill>
            <a:srgbClr val="1E293B"/>
          </a:solidFill>
          <a:ln/>
        </p:spPr>
      </p:sp>
      <p:sp>
        <p:nvSpPr>
          <p:cNvPr id="716800818" name="Text 10"/>
          <p:cNvSpPr/>
          <p:nvPr/>
        </p:nvSpPr>
        <p:spPr bwMode="auto">
          <a:xfrm>
            <a:off x="8385048" y="4498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50 / 50</a:t>
            </a:r>
            <a:endParaRPr lang="en-US" sz="2400"/>
          </a:p>
        </p:txBody>
      </p:sp>
      <p:sp>
        <p:nvSpPr>
          <p:cNvPr id="1612919527" name="Text 11"/>
          <p:cNvSpPr/>
          <p:nvPr/>
        </p:nvSpPr>
        <p:spPr bwMode="auto">
          <a:xfrm>
            <a:off x="8385048" y="49743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重场景浸泡退出码全 0 · 零冻结</a:t>
            </a:r>
            <a:endParaRPr lang="en-US" sz="1200"/>
          </a:p>
        </p:txBody>
      </p:sp>
      <p:sp>
        <p:nvSpPr>
          <p:cNvPr id="1294292506" name="Text 12"/>
          <p:cNvSpPr/>
          <p:nvPr/>
        </p:nvSpPr>
        <p:spPr bwMode="auto"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汇报人:周宇聪 · 2026 年 7 月 – 10 月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625998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200"/>
          </a:p>
        </p:txBody>
      </p:sp>
      <p:sp>
        <p:nvSpPr>
          <p:cNvPr id="1499572746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OVERVIEW · 一页概览</a:t>
            </a:r>
            <a:endParaRPr lang="en-US" sz="1200"/>
          </a:p>
        </p:txBody>
      </p:sp>
      <p:sp>
        <p:nvSpPr>
          <p:cNvPr id="1452849485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结论先行:三个月的四组数字</a:t>
            </a:r>
            <a:endParaRPr lang="en-US" sz="2600"/>
          </a:p>
        </p:txBody>
      </p:sp>
      <p:sp>
        <p:nvSpPr>
          <p:cNvPr id="1473094041" name="Shape 3"/>
          <p:cNvSpPr/>
          <p:nvPr/>
        </p:nvSpPr>
        <p:spPr bwMode="auto">
          <a:xfrm>
            <a:off x="457200" y="1371600"/>
            <a:ext cx="2715768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262110771" name="Text 4"/>
          <p:cNvSpPr/>
          <p:nvPr/>
        </p:nvSpPr>
        <p:spPr bwMode="auto">
          <a:xfrm>
            <a:off x="658368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virgl</a:t>
            </a:r>
            <a:endParaRPr lang="en-US" sz="3000"/>
          </a:p>
        </p:txBody>
      </p:sp>
      <p:sp>
        <p:nvSpPr>
          <p:cNvPr id="427743263" name="Text 5"/>
          <p:cNvSpPr/>
          <p:nvPr/>
        </p:nvSpPr>
        <p:spPr bwMode="auto">
          <a:xfrm>
            <a:off x="658368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用户态零改动</a:t>
            </a:r>
            <a:endParaRPr lang="en-US" sz="1400"/>
          </a:p>
        </p:txBody>
      </p:sp>
      <p:sp>
        <p:nvSpPr>
          <p:cNvPr id="210688852" name="Text 6"/>
          <p:cNvSpPr/>
          <p:nvPr/>
        </p:nvSpPr>
        <p:spPr bwMode="auto">
          <a:xfrm>
            <a:off x="658368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GL_RENDERER=virgl</a:t>
            </a:r>
            <a:endParaRPr lang="en-US" sz="1200"/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宿主真实 GPU 渲染</a:t>
            </a:r>
            <a:endParaRPr lang="en-US" sz="1200"/>
          </a:p>
        </p:txBody>
      </p:sp>
      <p:sp>
        <p:nvSpPr>
          <p:cNvPr id="1393648388" name="Shape 7"/>
          <p:cNvSpPr/>
          <p:nvPr/>
        </p:nvSpPr>
        <p:spPr bwMode="auto">
          <a:xfrm>
            <a:off x="3310127" y="1371600"/>
            <a:ext cx="2715768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257139230" name="Text 8"/>
          <p:cNvSpPr/>
          <p:nvPr/>
        </p:nvSpPr>
        <p:spPr bwMode="auto">
          <a:xfrm>
            <a:off x="3511296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69 → 3000+</a:t>
            </a:r>
            <a:endParaRPr lang="en-US" sz="2400"/>
          </a:p>
        </p:txBody>
      </p:sp>
      <p:sp>
        <p:nvSpPr>
          <p:cNvPr id="192609413" name="Text 9"/>
          <p:cNvSpPr/>
          <p:nvPr/>
        </p:nvSpPr>
        <p:spPr bwMode="auto">
          <a:xfrm>
            <a:off x="3511296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glmark2 总分</a:t>
            </a:r>
            <a:endParaRPr lang="en-US" sz="1400"/>
          </a:p>
        </p:txBody>
      </p:sp>
      <p:sp>
        <p:nvSpPr>
          <p:cNvPr id="935821644" name="Text 10"/>
          <p:cNvSpPr/>
          <p:nvPr/>
        </p:nvSpPr>
        <p:spPr bwMode="auto">
          <a:xfrm>
            <a:off x="3511296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33 场景完整跑完</a:t>
            </a:r>
            <a:endParaRPr lang="en-US" sz="1200"/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同机 Linux 参照 6100~7000</a:t>
            </a:r>
            <a:endParaRPr lang="en-US" sz="1200"/>
          </a:p>
        </p:txBody>
      </p:sp>
      <p:sp>
        <p:nvSpPr>
          <p:cNvPr id="1887078694" name="Shape 11"/>
          <p:cNvSpPr/>
          <p:nvPr/>
        </p:nvSpPr>
        <p:spPr bwMode="auto">
          <a:xfrm>
            <a:off x="6163056" y="1371600"/>
            <a:ext cx="2715768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87580531" name="Text 12"/>
          <p:cNvSpPr/>
          <p:nvPr/>
        </p:nvSpPr>
        <p:spPr bwMode="auto">
          <a:xfrm>
            <a:off x="6364224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2.17 → 0.33 ms</a:t>
            </a:r>
            <a:endParaRPr lang="en-US" sz="2400"/>
          </a:p>
        </p:txBody>
      </p:sp>
      <p:sp>
        <p:nvSpPr>
          <p:cNvPr id="961054874" name="Text 13"/>
          <p:cNvSpPr/>
          <p:nvPr/>
        </p:nvSpPr>
        <p:spPr bwMode="auto">
          <a:xfrm>
            <a:off x="6364224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渲染循环帧时间</a:t>
            </a:r>
            <a:endParaRPr lang="en-US" sz="1400"/>
          </a:p>
        </p:txBody>
      </p:sp>
      <p:sp>
        <p:nvSpPr>
          <p:cNvPr id="2004415476" name="Text 14"/>
          <p:cNvSpPr/>
          <p:nvPr/>
        </p:nvSpPr>
        <p:spPr bwMode="auto">
          <a:xfrm>
            <a:off x="6364224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约 −85%</a:t>
            </a:r>
            <a:endParaRPr lang="en-US" sz="1200"/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每帧同步往返清零</a:t>
            </a:r>
            <a:endParaRPr lang="en-US" sz="1200"/>
          </a:p>
        </p:txBody>
      </p:sp>
      <p:sp>
        <p:nvSpPr>
          <p:cNvPr id="976752701" name="Shape 15"/>
          <p:cNvSpPr/>
          <p:nvPr/>
        </p:nvSpPr>
        <p:spPr bwMode="auto">
          <a:xfrm>
            <a:off x="9015984" y="1371600"/>
            <a:ext cx="2715768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536820188" name="Text 16"/>
          <p:cNvSpPr/>
          <p:nvPr/>
        </p:nvSpPr>
        <p:spPr bwMode="auto">
          <a:xfrm>
            <a:off x="9217152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6 / 7</a:t>
            </a:r>
            <a:endParaRPr lang="en-US" sz="3000"/>
          </a:p>
        </p:txBody>
      </p:sp>
      <p:sp>
        <p:nvSpPr>
          <p:cNvPr id="1236995540" name="Text 17"/>
          <p:cNvSpPr/>
          <p:nvPr/>
        </p:nvSpPr>
        <p:spPr bwMode="auto">
          <a:xfrm>
            <a:off x="9217152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拉取请求已合入</a:t>
            </a:r>
            <a:endParaRPr lang="en-US" sz="1400"/>
          </a:p>
        </p:txBody>
      </p:sp>
      <p:sp>
        <p:nvSpPr>
          <p:cNvPr id="656595592" name="Text 18"/>
          <p:cNvSpPr/>
          <p:nvPr/>
        </p:nvSpPr>
        <p:spPr bwMode="auto">
          <a:xfrm>
            <a:off x="9217152" y="2788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唯一开放:上游 crate #265</a:t>
            </a:r>
            <a:endParaRPr lang="en-US" sz="1200"/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语义已随主线进入仓库</a:t>
            </a:r>
            <a:endParaRPr lang="en-US" sz="1200"/>
          </a:p>
        </p:txBody>
      </p:sp>
      <p:sp>
        <p:nvSpPr>
          <p:cNvPr id="1607386323" name="Shape 19"/>
          <p:cNvSpPr/>
          <p:nvPr/>
        </p:nvSpPr>
        <p:spPr bwMode="auto">
          <a:xfrm>
            <a:off x="457200" y="4160519"/>
            <a:ext cx="11274552" cy="731520"/>
          </a:xfrm>
          <a:prstGeom prst="roundRect">
            <a:avLst>
              <a:gd name="adj" fmla="val 6875"/>
            </a:avLst>
          </a:prstGeom>
          <a:solidFill>
            <a:srgbClr val="F0FDFA"/>
          </a:solidFill>
          <a:ln/>
        </p:spPr>
      </p:sp>
      <p:sp>
        <p:nvSpPr>
          <p:cNvPr id="63719738" name="Text 20"/>
          <p:cNvSpPr/>
          <p:nvPr/>
        </p:nvSpPr>
        <p:spPr bwMode="auto">
          <a:xfrm>
            <a:off x="731520" y="43159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guest 侧三类整机冻结的结构性缺陷已根除 —— 重场景 10 轮浸泡,50/50 退出码全 0、零冻结、分数无衰减</a:t>
            </a:r>
            <a:endParaRPr lang="en-US" sz="1500"/>
          </a:p>
        </p:txBody>
      </p:sp>
      <p:sp>
        <p:nvSpPr>
          <p:cNvPr id="139322470" name="Text 21"/>
          <p:cNvSpPr/>
          <p:nvPr/>
        </p:nvSpPr>
        <p:spPr bwMode="auto">
          <a:xfrm>
            <a:off x="457200" y="5257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汇报路线:基线 → 总体架构 → 阶段一 功能 → 阶段二 性能 → 阶段三 工程 → 组件化 → 成果与边界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45434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200"/>
          </a:p>
        </p:txBody>
      </p:sp>
      <p:sp>
        <p:nvSpPr>
          <p:cNvPr id="805976359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01 · 基线</a:t>
            </a:r>
            <a:endParaRPr lang="en-US" sz="1200"/>
          </a:p>
        </p:txBody>
      </p:sp>
      <p:sp>
        <p:nvSpPr>
          <p:cNvPr id="1367570107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先造标尺:同法对照实验</a:t>
            </a:r>
            <a:endParaRPr lang="en-US" sz="2600"/>
          </a:p>
        </p:txBody>
      </p:sp>
      <p:graphicFrame>
        <p:nvGraphicFramePr>
          <p:cNvPr id="16823642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17320"/>
          <a:ext cx="576072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783080"/>
                <a:gridCol w="1280160"/>
                <a:gridCol w="1325880"/>
                <a:gridCol w="1371600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CPU 渲染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渲染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QEMU+KVM · 4 vCPU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Alpine Linux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700~800 FPS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9000 FPS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其余完全相同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StarryOS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500 FPS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</a:t>
                      </a:r>
                      <a:endParaRPr lang="en-US" sz="13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350784214" name="Shape 3"/>
          <p:cNvSpPr/>
          <p:nvPr/>
        </p:nvSpPr>
        <p:spPr bwMode="auto">
          <a:xfrm>
            <a:off x="457200" y="335584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69573373" name="Text 4"/>
          <p:cNvSpPr/>
          <p:nvPr/>
        </p:nvSpPr>
        <p:spPr bwMode="auto">
          <a:xfrm>
            <a:off x="731520" y="32552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硬件加速对图形场景是数量级的收益</a:t>
            </a:r>
            <a:endParaRPr lang="en-US" sz="1500"/>
          </a:p>
        </p:txBody>
      </p:sp>
      <p:sp>
        <p:nvSpPr>
          <p:cNvPr id="1570323210" name="Text 5"/>
          <p:cNvSpPr/>
          <p:nvPr/>
        </p:nvSpPr>
        <p:spPr bwMode="auto">
          <a:xfrm>
            <a:off x="731520" y="36393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Linux 内 GPU 路径是 CPU 路径的十几倍</a:t>
            </a:r>
            <a:endParaRPr lang="en-US" sz="1250"/>
          </a:p>
        </p:txBody>
      </p:sp>
      <p:sp>
        <p:nvSpPr>
          <p:cNvPr id="1197847613" name="Shape 6"/>
          <p:cNvSpPr/>
          <p:nvPr/>
        </p:nvSpPr>
        <p:spPr bwMode="auto">
          <a:xfrm>
            <a:off x="457200" y="419709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35806978" name="Text 7"/>
          <p:cNvSpPr/>
          <p:nvPr/>
        </p:nvSpPr>
        <p:spPr bwMode="auto">
          <a:xfrm>
            <a:off x="731520" y="40965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差距 100% 在内核侧</a:t>
            </a:r>
            <a:endParaRPr lang="en-US" sz="1500"/>
          </a:p>
        </p:txBody>
      </p:sp>
      <p:sp>
        <p:nvSpPr>
          <p:cNvPr id="806211096" name="Text 8"/>
          <p:cNvSpPr/>
          <p:nvPr/>
        </p:nvSpPr>
        <p:spPr bwMode="auto">
          <a:xfrm>
            <a:off x="731520" y="4480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两侧用户态完全相同,唯一变量就是内核</a:t>
            </a:r>
            <a:endParaRPr lang="en-US" sz="1250"/>
          </a:p>
        </p:txBody>
      </p:sp>
      <p:sp>
        <p:nvSpPr>
          <p:cNvPr id="2089772027" name="Shape 9"/>
          <p:cNvSpPr/>
          <p:nvPr/>
        </p:nvSpPr>
        <p:spPr bwMode="auto">
          <a:xfrm>
            <a:off x="457200" y="5038344"/>
            <a:ext cx="128016" cy="12801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1988101" name="Text 10"/>
          <p:cNvSpPr/>
          <p:nvPr/>
        </p:nvSpPr>
        <p:spPr bwMode="auto">
          <a:xfrm>
            <a:off x="731520" y="4937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纪律:同机 · 同用户态 · 唯一变量 · 背靠背 A/B</a:t>
            </a:r>
            <a:endParaRPr lang="en-US" sz="1500"/>
          </a:p>
        </p:txBody>
      </p:sp>
      <p:sp>
        <p:nvSpPr>
          <p:cNvPr id="585900853" name="Text 11"/>
          <p:cNvSpPr/>
          <p:nvPr/>
        </p:nvSpPr>
        <p:spPr bwMode="auto">
          <a:xfrm>
            <a:off x="731520" y="532180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此后每一个百分比都建立在可复现的对照上</a:t>
            </a:r>
            <a:endParaRPr lang="en-US" sz="1250"/>
          </a:p>
        </p:txBody>
      </p:sp>
      <p:sp>
        <p:nvSpPr>
          <p:cNvPr id="826569723" name="Shape 12"/>
          <p:cNvSpPr/>
          <p:nvPr/>
        </p:nvSpPr>
        <p:spPr bwMode="auto">
          <a:xfrm>
            <a:off x="6537960" y="1417320"/>
            <a:ext cx="5193792" cy="2240280"/>
          </a:xfrm>
          <a:prstGeom prst="roundRect">
            <a:avLst>
              <a:gd name="adj" fmla="val 22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pic>
        <p:nvPicPr>
          <p:cNvPr id="774122001" name="Image 0" descr="/tmp/ppt-assets/baselin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20840" y="1645920"/>
            <a:ext cx="4828032" cy="1227466"/>
          </a:xfrm>
          <a:prstGeom prst="rect">
            <a:avLst/>
          </a:prstGeom>
        </p:spPr>
      </p:pic>
      <p:sp>
        <p:nvSpPr>
          <p:cNvPr id="225190471" name="Text 13"/>
          <p:cNvSpPr/>
          <p:nvPr/>
        </p:nvSpPr>
        <p:spPr bwMode="auto">
          <a:xfrm>
            <a:off x="6720840" y="306324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第一周对照:Alpine Linux 与 StarryOS 的 Weston + glmark2(同参数 QEMU)</a:t>
            </a:r>
            <a:endParaRPr lang="en-US" sz="1200"/>
          </a:p>
        </p:txBody>
      </p:sp>
      <p:sp>
        <p:nvSpPr>
          <p:cNvPr id="716903820" name="Shape 14"/>
          <p:cNvSpPr/>
          <p:nvPr/>
        </p:nvSpPr>
        <p:spPr bwMode="auto">
          <a:xfrm>
            <a:off x="6537960" y="3977640"/>
            <a:ext cx="5193792" cy="1234440"/>
          </a:xfrm>
          <a:prstGeom prst="roundRect">
            <a:avLst>
              <a:gd name="adj" fmla="val 4074"/>
            </a:avLst>
          </a:prstGeom>
          <a:solidFill>
            <a:srgbClr val="F0FDFA"/>
          </a:solidFill>
          <a:ln/>
        </p:spPr>
      </p:sp>
      <p:sp>
        <p:nvSpPr>
          <p:cNvPr id="1639874661" name="Text 15"/>
          <p:cNvSpPr/>
          <p:nvPr/>
        </p:nvSpPr>
        <p:spPr bwMode="auto">
          <a:xfrm>
            <a:off x="6766560" y="4160519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「先造标尺」是三个月里最便宜也最值钱的决定:</a:t>
            </a:r>
            <a:endParaRPr lang="en-US" sz="1350"/>
          </a:p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后面每一次优化、每一次证伪,用的都是这把尺子。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734659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200"/>
          </a:p>
        </p:txBody>
      </p:sp>
      <p:sp>
        <p:nvSpPr>
          <p:cNvPr id="1727532708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02 · 总体架构</a:t>
            </a:r>
            <a:endParaRPr lang="en-US" sz="1200"/>
          </a:p>
        </p:txBody>
      </p:sp>
      <p:sp>
        <p:nvSpPr>
          <p:cNvPr id="1093207595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软件栈分层与一帧的生命周期</a:t>
            </a:r>
            <a:endParaRPr lang="en-US" sz="2600"/>
          </a:p>
        </p:txBody>
      </p:sp>
      <p:sp>
        <p:nvSpPr>
          <p:cNvPr id="1768364993" name="Text 3"/>
          <p:cNvSpPr/>
          <p:nvPr/>
        </p:nvSpPr>
        <p:spPr bwMode="auto">
          <a:xfrm>
            <a:off x="457200" y="1078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StarryOS guest(虚拟机内)</a:t>
            </a:r>
            <a:endParaRPr lang="en-US" sz="1200"/>
          </a:p>
        </p:txBody>
      </p:sp>
      <p:sp>
        <p:nvSpPr>
          <p:cNvPr id="1085908846" name="Shape 4"/>
          <p:cNvSpPr/>
          <p:nvPr/>
        </p:nvSpPr>
        <p:spPr bwMode="auto">
          <a:xfrm>
            <a:off x="457200" y="1353312"/>
            <a:ext cx="1572768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02899623" name="Text 5"/>
          <p:cNvSpPr/>
          <p:nvPr/>
        </p:nvSpPr>
        <p:spPr bwMode="auto">
          <a:xfrm>
            <a:off x="45720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用户态</a:t>
            </a:r>
            <a:endParaRPr lang="en-US" sz="1300"/>
          </a:p>
        </p:txBody>
      </p:sp>
      <p:sp>
        <p:nvSpPr>
          <p:cNvPr id="1997478602" name="Text 6"/>
          <p:cNvSpPr/>
          <p:nvPr/>
        </p:nvSpPr>
        <p:spPr bwMode="auto">
          <a:xfrm>
            <a:off x="457200" y="17556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Weston + Mesa</a:t>
            </a:r>
            <a:endParaRPr lang="en-US" sz="1150"/>
          </a:p>
        </p:txBody>
      </p:sp>
      <p:sp>
        <p:nvSpPr>
          <p:cNvPr id="379608945" name="Shape 7"/>
          <p:cNvSpPr/>
          <p:nvPr/>
        </p:nvSpPr>
        <p:spPr bwMode="auto">
          <a:xfrm>
            <a:off x="2039112" y="1737360"/>
            <a:ext cx="11887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20064468" name="Shape 8"/>
          <p:cNvSpPr/>
          <p:nvPr/>
        </p:nvSpPr>
        <p:spPr bwMode="auto">
          <a:xfrm>
            <a:off x="2167128" y="1353312"/>
            <a:ext cx="1572768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49660201" name="Text 9"/>
          <p:cNvSpPr/>
          <p:nvPr/>
        </p:nvSpPr>
        <p:spPr bwMode="auto">
          <a:xfrm>
            <a:off x="2167128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card0</a:t>
            </a:r>
            <a:endParaRPr lang="en-US" sz="1300"/>
          </a:p>
        </p:txBody>
      </p:sp>
      <p:sp>
        <p:nvSpPr>
          <p:cNvPr id="1258099119" name="Text 10"/>
          <p:cNvSpPr/>
          <p:nvPr/>
        </p:nvSpPr>
        <p:spPr bwMode="auto">
          <a:xfrm>
            <a:off x="2167128" y="17556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DRM ioctl</a:t>
            </a:r>
            <a:endParaRPr lang="en-US" sz="1150"/>
          </a:p>
        </p:txBody>
      </p:sp>
      <p:sp>
        <p:nvSpPr>
          <p:cNvPr id="721416822" name="Shape 11"/>
          <p:cNvSpPr/>
          <p:nvPr/>
        </p:nvSpPr>
        <p:spPr bwMode="auto">
          <a:xfrm>
            <a:off x="3749040" y="1737360"/>
            <a:ext cx="11887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1768721" name="Shape 12"/>
          <p:cNvSpPr/>
          <p:nvPr/>
        </p:nvSpPr>
        <p:spPr bwMode="auto">
          <a:xfrm>
            <a:off x="3877056" y="1353312"/>
            <a:ext cx="1572768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87961600" name="Text 13"/>
          <p:cNvSpPr/>
          <p:nvPr/>
        </p:nvSpPr>
        <p:spPr bwMode="auto">
          <a:xfrm>
            <a:off x="3877056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axgpu</a:t>
            </a:r>
            <a:endParaRPr lang="en-US" sz="1300"/>
          </a:p>
        </p:txBody>
      </p:sp>
      <p:sp>
        <p:nvSpPr>
          <p:cNvPr id="841872232" name="Text 14"/>
          <p:cNvSpPr/>
          <p:nvPr/>
        </p:nvSpPr>
        <p:spPr bwMode="auto">
          <a:xfrm>
            <a:off x="3877056" y="17556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门面 / 等待原语</a:t>
            </a:r>
            <a:endParaRPr lang="en-US" sz="1150"/>
          </a:p>
        </p:txBody>
      </p:sp>
      <p:sp>
        <p:nvSpPr>
          <p:cNvPr id="1097092610" name="Shape 15"/>
          <p:cNvSpPr/>
          <p:nvPr/>
        </p:nvSpPr>
        <p:spPr bwMode="auto">
          <a:xfrm>
            <a:off x="5458968" y="1737360"/>
            <a:ext cx="11887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46232072" name="Shape 16"/>
          <p:cNvSpPr/>
          <p:nvPr/>
        </p:nvSpPr>
        <p:spPr bwMode="auto">
          <a:xfrm>
            <a:off x="5586984" y="1353312"/>
            <a:ext cx="1572768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9770458" name="Text 17"/>
          <p:cNvSpPr/>
          <p:nvPr/>
        </p:nvSpPr>
        <p:spPr bwMode="auto">
          <a:xfrm>
            <a:off x="5586984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rdif-gpu</a:t>
            </a:r>
            <a:endParaRPr lang="en-US" sz="1300"/>
          </a:p>
        </p:txBody>
      </p:sp>
      <p:sp>
        <p:nvSpPr>
          <p:cNvPr id="1679635610" name="Text 18"/>
          <p:cNvSpPr/>
          <p:nvPr/>
        </p:nvSpPr>
        <p:spPr bwMode="auto">
          <a:xfrm>
            <a:off x="5586984" y="17556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VirglOps 合同</a:t>
            </a:r>
            <a:endParaRPr lang="en-US" sz="1150"/>
          </a:p>
        </p:txBody>
      </p:sp>
      <p:sp>
        <p:nvSpPr>
          <p:cNvPr id="1725235565" name="Shape 19"/>
          <p:cNvSpPr/>
          <p:nvPr/>
        </p:nvSpPr>
        <p:spPr bwMode="auto">
          <a:xfrm>
            <a:off x="7168896" y="1737360"/>
            <a:ext cx="11887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85431520" name="Shape 20"/>
          <p:cNvSpPr/>
          <p:nvPr/>
        </p:nvSpPr>
        <p:spPr bwMode="auto">
          <a:xfrm>
            <a:off x="7296912" y="1353312"/>
            <a:ext cx="1572768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03530691" name="Text 21"/>
          <p:cNvSpPr/>
          <p:nvPr/>
        </p:nvSpPr>
        <p:spPr bwMode="auto">
          <a:xfrm>
            <a:off x="7296912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ax-driver</a:t>
            </a:r>
            <a:endParaRPr lang="en-US" sz="1300"/>
          </a:p>
        </p:txBody>
      </p:sp>
      <p:sp>
        <p:nvSpPr>
          <p:cNvPr id="112223475" name="Text 22"/>
          <p:cNvSpPr/>
          <p:nvPr/>
        </p:nvSpPr>
        <p:spPr bwMode="auto">
          <a:xfrm>
            <a:off x="7296912" y="17556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平台适配</a:t>
            </a:r>
            <a:endParaRPr lang="en-US" sz="1150"/>
          </a:p>
        </p:txBody>
      </p:sp>
      <p:sp>
        <p:nvSpPr>
          <p:cNvPr id="574458288" name="Shape 23"/>
          <p:cNvSpPr/>
          <p:nvPr/>
        </p:nvSpPr>
        <p:spPr bwMode="auto">
          <a:xfrm>
            <a:off x="8878824" y="1737360"/>
            <a:ext cx="11887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74135899" name="Shape 24"/>
          <p:cNvSpPr/>
          <p:nvPr/>
        </p:nvSpPr>
        <p:spPr bwMode="auto">
          <a:xfrm>
            <a:off x="9006840" y="1353312"/>
            <a:ext cx="1572768" cy="777240"/>
          </a:xfrm>
          <a:prstGeom prst="roundRect">
            <a:avLst>
              <a:gd name="adj" fmla="val 6471"/>
            </a:avLst>
          </a:prstGeom>
          <a:solidFill>
            <a:srgbClr val="CCFBF1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70089933" name="Text 25"/>
          <p:cNvSpPr/>
          <p:nvPr/>
        </p:nvSpPr>
        <p:spPr bwMode="auto">
          <a:xfrm>
            <a:off x="900684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virtio-gpu</a:t>
            </a:r>
            <a:endParaRPr lang="en-US" sz="1300"/>
          </a:p>
        </p:txBody>
      </p:sp>
      <p:sp>
        <p:nvSpPr>
          <p:cNvPr id="1071523450" name="Text 26"/>
          <p:cNvSpPr/>
          <p:nvPr/>
        </p:nvSpPr>
        <p:spPr bwMode="auto">
          <a:xfrm>
            <a:off x="9006840" y="17556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异步控制队列</a:t>
            </a:r>
            <a:endParaRPr lang="en-US" sz="1150"/>
          </a:p>
        </p:txBody>
      </p:sp>
      <p:sp>
        <p:nvSpPr>
          <p:cNvPr id="153313656" name="Shape 27"/>
          <p:cNvSpPr/>
          <p:nvPr/>
        </p:nvSpPr>
        <p:spPr bwMode="auto">
          <a:xfrm>
            <a:off x="3291840" y="2395728"/>
            <a:ext cx="5486400" cy="475488"/>
          </a:xfrm>
          <a:prstGeom prst="roundRect">
            <a:avLst>
              <a:gd name="adj" fmla="val 10577"/>
            </a:avLst>
          </a:prstGeom>
          <a:solidFill>
            <a:srgbClr val="F8FAFC"/>
          </a:solidFill>
          <a:ln/>
        </p:spPr>
      </p:sp>
      <p:sp>
        <p:nvSpPr>
          <p:cNvPr id="1038665322" name="Text 28"/>
          <p:cNvSpPr/>
          <p:nvPr/>
        </p:nvSpPr>
        <p:spPr bwMode="auto">
          <a:xfrm>
            <a:off x="3291840" y="23957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virtqueue(控制 64 / 游标 16)—— kick = 一次 MMIO 写,在虚拟化里是一次 VM-exit</a:t>
            </a:r>
            <a:endParaRPr lang="en-US" sz="1200"/>
          </a:p>
        </p:txBody>
      </p:sp>
      <p:sp>
        <p:nvSpPr>
          <p:cNvPr id="1015260054" name="Shape 29"/>
          <p:cNvSpPr/>
          <p:nvPr/>
        </p:nvSpPr>
        <p:spPr bwMode="auto">
          <a:xfrm>
            <a:off x="10469880" y="2148840"/>
            <a:ext cx="0" cy="2468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98297191" name="Text 30"/>
          <p:cNvSpPr/>
          <p:nvPr/>
        </p:nvSpPr>
        <p:spPr bwMode="auto">
          <a:xfrm>
            <a:off x="457200" y="2999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QEMU 宿主机</a:t>
            </a:r>
            <a:endParaRPr lang="en-US" sz="1200"/>
          </a:p>
        </p:txBody>
      </p:sp>
      <p:sp>
        <p:nvSpPr>
          <p:cNvPr id="48657379" name="Shape 31"/>
          <p:cNvSpPr/>
          <p:nvPr/>
        </p:nvSpPr>
        <p:spPr bwMode="auto">
          <a:xfrm>
            <a:off x="2286000" y="3273552"/>
            <a:ext cx="260604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38076086" name="Text 32"/>
          <p:cNvSpPr/>
          <p:nvPr/>
        </p:nvSpPr>
        <p:spPr bwMode="auto">
          <a:xfrm>
            <a:off x="2286000" y="32735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QEMU virtio-gpu 设备</a:t>
            </a:r>
            <a:endParaRPr lang="en-US" sz="1300"/>
          </a:p>
        </p:txBody>
      </p:sp>
      <p:sp>
        <p:nvSpPr>
          <p:cNvPr id="1541003547" name="Shape 33"/>
          <p:cNvSpPr/>
          <p:nvPr/>
        </p:nvSpPr>
        <p:spPr bwMode="auto">
          <a:xfrm>
            <a:off x="4910328" y="3639312"/>
            <a:ext cx="23774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59718792" name="Shape 34"/>
          <p:cNvSpPr/>
          <p:nvPr/>
        </p:nvSpPr>
        <p:spPr bwMode="auto">
          <a:xfrm>
            <a:off x="5166360" y="3273552"/>
            <a:ext cx="260604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39490793" name="Text 35"/>
          <p:cNvSpPr/>
          <p:nvPr/>
        </p:nvSpPr>
        <p:spPr bwMode="auto">
          <a:xfrm>
            <a:off x="5166360" y="32735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virglrenderer:翻译为宿主 GL</a:t>
            </a:r>
            <a:endParaRPr lang="en-US" sz="1300"/>
          </a:p>
        </p:txBody>
      </p:sp>
      <p:sp>
        <p:nvSpPr>
          <p:cNvPr id="1820624522" name="Shape 36"/>
          <p:cNvSpPr/>
          <p:nvPr/>
        </p:nvSpPr>
        <p:spPr bwMode="auto">
          <a:xfrm>
            <a:off x="7790687" y="3639312"/>
            <a:ext cx="23774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88886961" name="Shape 37"/>
          <p:cNvSpPr/>
          <p:nvPr/>
        </p:nvSpPr>
        <p:spPr bwMode="auto">
          <a:xfrm>
            <a:off x="8046720" y="3273552"/>
            <a:ext cx="2606040" cy="731520"/>
          </a:xfrm>
          <a:prstGeom prst="roundRect">
            <a:avLst>
              <a:gd name="adj" fmla="val 6875"/>
            </a:avLst>
          </a:prstGeom>
          <a:solidFill>
            <a:srgbClr val="CCFBF1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613003788" name="Text 38"/>
          <p:cNvSpPr/>
          <p:nvPr/>
        </p:nvSpPr>
        <p:spPr bwMode="auto">
          <a:xfrm>
            <a:off x="8046720" y="32735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物理 GPU(AMD Radeon 780M)</a:t>
            </a:r>
            <a:endParaRPr lang="en-US" sz="1300"/>
          </a:p>
        </p:txBody>
      </p:sp>
      <p:sp>
        <p:nvSpPr>
          <p:cNvPr id="1085981016" name="Shape 39"/>
          <p:cNvSpPr/>
          <p:nvPr/>
        </p:nvSpPr>
        <p:spPr bwMode="auto">
          <a:xfrm>
            <a:off x="3383280" y="2871216"/>
            <a:ext cx="0" cy="38404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45042276" name="Shape 40"/>
          <p:cNvSpPr/>
          <p:nvPr/>
        </p:nvSpPr>
        <p:spPr bwMode="auto">
          <a:xfrm>
            <a:off x="10058400" y="4023360"/>
            <a:ext cx="0" cy="0"/>
          </a:xfrm>
          <a:prstGeom prst="line">
            <a:avLst/>
          </a:prstGeom>
          <a:noFill/>
          <a:ln w="15875">
            <a:solidFill>
              <a:srgbClr val="14B8A6"/>
            </a:solidFill>
            <a:prstDash val="dash"/>
            <a:tailEnd type="triangle"/>
          </a:ln>
        </p:spPr>
      </p:sp>
      <p:sp>
        <p:nvSpPr>
          <p:cNvPr id="230546989" name="Text 41"/>
          <p:cNvSpPr/>
          <p:nvPr/>
        </p:nvSpPr>
        <p:spPr bwMode="auto">
          <a:xfrm>
            <a:off x="4572000" y="4096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渲染完成:写 used ring → 中断 guest(完成通知链)</a:t>
            </a:r>
            <a:endParaRPr lang="en-US" sz="1200"/>
          </a:p>
        </p:txBody>
      </p:sp>
      <p:sp>
        <p:nvSpPr>
          <p:cNvPr id="386692039" name="Shape 42"/>
          <p:cNvSpPr/>
          <p:nvPr/>
        </p:nvSpPr>
        <p:spPr bwMode="auto">
          <a:xfrm>
            <a:off x="457200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F8FAFC"/>
          </a:solidFill>
          <a:ln/>
        </p:spPr>
      </p:sp>
      <p:sp>
        <p:nvSpPr>
          <p:cNvPr id="266174227" name="Text 43"/>
          <p:cNvSpPr/>
          <p:nvPr/>
        </p:nvSpPr>
        <p:spPr bwMode="auto">
          <a:xfrm>
            <a:off x="457200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① 应用渲染</a:t>
            </a:r>
            <a:endParaRPr lang="en-US" sz="1200"/>
          </a:p>
        </p:txBody>
      </p:sp>
      <p:sp>
        <p:nvSpPr>
          <p:cNvPr id="1216719448" name="Shape 44"/>
          <p:cNvSpPr/>
          <p:nvPr/>
        </p:nvSpPr>
        <p:spPr bwMode="auto">
          <a:xfrm>
            <a:off x="1869948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F8FAFC"/>
          </a:solidFill>
          <a:ln/>
        </p:spPr>
      </p:sp>
      <p:sp>
        <p:nvSpPr>
          <p:cNvPr id="1979074162" name="Text 45"/>
          <p:cNvSpPr/>
          <p:nvPr/>
        </p:nvSpPr>
        <p:spPr bwMode="auto">
          <a:xfrm>
            <a:off x="1869948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② Mesa 编码</a:t>
            </a:r>
            <a:endParaRPr lang="en-US" sz="1200"/>
          </a:p>
        </p:txBody>
      </p:sp>
      <p:sp>
        <p:nvSpPr>
          <p:cNvPr id="1606318674" name="Shape 46"/>
          <p:cNvSpPr/>
          <p:nvPr/>
        </p:nvSpPr>
        <p:spPr bwMode="auto">
          <a:xfrm>
            <a:off x="3282696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CCFBF1"/>
          </a:solidFill>
          <a:ln/>
        </p:spPr>
      </p:sp>
      <p:sp>
        <p:nvSpPr>
          <p:cNvPr id="61569943" name="Text 47"/>
          <p:cNvSpPr/>
          <p:nvPr/>
        </p:nvSpPr>
        <p:spPr bwMode="auto">
          <a:xfrm>
            <a:off x="3282696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③ EXECBUFFER</a:t>
            </a:r>
            <a:endParaRPr lang="en-US" sz="1200"/>
          </a:p>
        </p:txBody>
      </p:sp>
      <p:sp>
        <p:nvSpPr>
          <p:cNvPr id="1024780021" name="Shape 48"/>
          <p:cNvSpPr/>
          <p:nvPr/>
        </p:nvSpPr>
        <p:spPr bwMode="auto">
          <a:xfrm>
            <a:off x="4695444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F8FAFC"/>
          </a:solidFill>
          <a:ln/>
        </p:spPr>
      </p:sp>
      <p:sp>
        <p:nvSpPr>
          <p:cNvPr id="1153839914" name="Text 49"/>
          <p:cNvSpPr/>
          <p:nvPr/>
        </p:nvSpPr>
        <p:spPr bwMode="auto">
          <a:xfrm>
            <a:off x="4695444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④ 队列传输</a:t>
            </a:r>
            <a:endParaRPr lang="en-US" sz="1200"/>
          </a:p>
        </p:txBody>
      </p:sp>
      <p:sp>
        <p:nvSpPr>
          <p:cNvPr id="1215407837" name="Shape 50"/>
          <p:cNvSpPr/>
          <p:nvPr/>
        </p:nvSpPr>
        <p:spPr bwMode="auto">
          <a:xfrm>
            <a:off x="6108192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CCFBF1"/>
          </a:solidFill>
          <a:ln/>
        </p:spPr>
      </p:sp>
      <p:sp>
        <p:nvSpPr>
          <p:cNvPr id="292316224" name="Text 51"/>
          <p:cNvSpPr/>
          <p:nvPr/>
        </p:nvSpPr>
        <p:spPr bwMode="auto">
          <a:xfrm>
            <a:off x="6108192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⑤ 宿主渲染</a:t>
            </a:r>
            <a:endParaRPr lang="en-US" sz="1200"/>
          </a:p>
        </p:txBody>
      </p:sp>
      <p:sp>
        <p:nvSpPr>
          <p:cNvPr id="1466976610" name="Shape 52"/>
          <p:cNvSpPr/>
          <p:nvPr/>
        </p:nvSpPr>
        <p:spPr bwMode="auto">
          <a:xfrm>
            <a:off x="7520940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CCFBF1"/>
          </a:solidFill>
          <a:ln/>
        </p:spPr>
      </p:sp>
      <p:sp>
        <p:nvSpPr>
          <p:cNvPr id="1479125555" name="Text 53"/>
          <p:cNvSpPr/>
          <p:nvPr/>
        </p:nvSpPr>
        <p:spPr bwMode="auto">
          <a:xfrm>
            <a:off x="7520940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⑥ fence 完成</a:t>
            </a:r>
            <a:endParaRPr lang="en-US" sz="1200"/>
          </a:p>
        </p:txBody>
      </p:sp>
      <p:sp>
        <p:nvSpPr>
          <p:cNvPr id="1480326533" name="Shape 54"/>
          <p:cNvSpPr/>
          <p:nvPr/>
        </p:nvSpPr>
        <p:spPr bwMode="auto">
          <a:xfrm>
            <a:off x="8933688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F8FAFC"/>
          </a:solidFill>
          <a:ln/>
        </p:spPr>
      </p:sp>
      <p:sp>
        <p:nvSpPr>
          <p:cNvPr id="1996044653" name="Text 55"/>
          <p:cNvSpPr/>
          <p:nvPr/>
        </p:nvSpPr>
        <p:spPr bwMode="auto">
          <a:xfrm>
            <a:off x="8933688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⑦ guest 收割</a:t>
            </a:r>
            <a:endParaRPr lang="en-US" sz="1200"/>
          </a:p>
        </p:txBody>
      </p:sp>
      <p:sp>
        <p:nvSpPr>
          <p:cNvPr id="2116893823" name="Shape 56"/>
          <p:cNvSpPr/>
          <p:nvPr/>
        </p:nvSpPr>
        <p:spPr bwMode="auto">
          <a:xfrm>
            <a:off x="10346436" y="4553712"/>
            <a:ext cx="1335024" cy="731520"/>
          </a:xfrm>
          <a:prstGeom prst="roundRect">
            <a:avLst>
              <a:gd name="adj" fmla="val 6875"/>
            </a:avLst>
          </a:prstGeom>
          <a:solidFill>
            <a:srgbClr val="F8FAFC"/>
          </a:solidFill>
          <a:ln/>
        </p:spPr>
      </p:sp>
      <p:sp>
        <p:nvSpPr>
          <p:cNvPr id="1191377564" name="Text 57"/>
          <p:cNvSpPr/>
          <p:nvPr/>
        </p:nvSpPr>
        <p:spPr bwMode="auto">
          <a:xfrm>
            <a:off x="10346436" y="45537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⑧ present</a:t>
            </a:r>
            <a:endParaRPr lang="en-US" sz="1200"/>
          </a:p>
        </p:txBody>
      </p:sp>
      <p:sp>
        <p:nvSpPr>
          <p:cNvPr id="2136695457" name="Text 58"/>
          <p:cNvSpPr/>
          <p:nvPr/>
        </p:nvSpPr>
        <p:spPr bwMode="auto"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帧时间 = ①→⑧ 的墙钟。优化的两个方向:压每个环节的固定单价;让 ③④ 与 ⑤ 流水线重叠(异步化)——第 5 页起全部展开。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355893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05</a:t>
            </a:r>
            <a:endParaRPr lang="en-US" sz="1200"/>
          </a:p>
        </p:txBody>
      </p:sp>
      <p:sp>
        <p:nvSpPr>
          <p:cNvPr id="541826345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03 · 核心问题</a:t>
            </a:r>
            <a:endParaRPr lang="en-US" sz="1200"/>
          </a:p>
        </p:txBody>
      </p:sp>
      <p:sp>
        <p:nvSpPr>
          <p:cNvPr id="164985028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同步模型 vs 异步模型:整个优化战役的纲</a:t>
            </a:r>
            <a:endParaRPr lang="en-US" sz="2600"/>
          </a:p>
        </p:txBody>
      </p:sp>
      <p:sp>
        <p:nvSpPr>
          <p:cNvPr id="1726078637" name="Shape 3"/>
          <p:cNvSpPr/>
          <p:nvPr/>
        </p:nvSpPr>
        <p:spPr bwMode="auto">
          <a:xfrm>
            <a:off x="457200" y="1298448"/>
            <a:ext cx="11274552" cy="2057400"/>
          </a:xfrm>
          <a:prstGeom prst="roundRect">
            <a:avLst>
              <a:gd name="adj" fmla="val 2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31243680" name="Text 4"/>
          <p:cNvSpPr/>
          <p:nvPr/>
        </p:nvSpPr>
        <p:spPr bwMode="auto">
          <a:xfrm>
            <a:off x="685800" y="14264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同步模型 —— 每条命令一次阻塞往返(改造前的上游形态)</a:t>
            </a:r>
            <a:endParaRPr lang="en-US" sz="1500"/>
          </a:p>
        </p:txBody>
      </p:sp>
      <p:sp>
        <p:nvSpPr>
          <p:cNvPr id="449778255" name="Shape 5"/>
          <p:cNvSpPr/>
          <p:nvPr/>
        </p:nvSpPr>
        <p:spPr bwMode="auto">
          <a:xfrm>
            <a:off x="868680" y="1874520"/>
            <a:ext cx="187452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94952268" name="Text 6"/>
          <p:cNvSpPr/>
          <p:nvPr/>
        </p:nvSpPr>
        <p:spPr bwMode="auto">
          <a:xfrm>
            <a:off x="868680" y="1874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命令入队</a:t>
            </a:r>
            <a:endParaRPr lang="en-US" sz="1250"/>
          </a:p>
        </p:txBody>
      </p:sp>
      <p:sp>
        <p:nvSpPr>
          <p:cNvPr id="1668355012" name="Shape 7"/>
          <p:cNvSpPr/>
          <p:nvPr/>
        </p:nvSpPr>
        <p:spPr bwMode="auto">
          <a:xfrm>
            <a:off x="2752343" y="2157984"/>
            <a:ext cx="3657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51183754" name="Shape 8"/>
          <p:cNvSpPr/>
          <p:nvPr/>
        </p:nvSpPr>
        <p:spPr bwMode="auto">
          <a:xfrm>
            <a:off x="3127248" y="1874520"/>
            <a:ext cx="187452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69044620" name="Text 9"/>
          <p:cNvSpPr/>
          <p:nvPr/>
        </p:nvSpPr>
        <p:spPr bwMode="auto">
          <a:xfrm>
            <a:off x="3127248" y="1874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kick(VM-exit)</a:t>
            </a:r>
            <a:endParaRPr lang="en-US" sz="1250"/>
          </a:p>
        </p:txBody>
      </p:sp>
      <p:sp>
        <p:nvSpPr>
          <p:cNvPr id="1471416051" name="Shape 10"/>
          <p:cNvSpPr/>
          <p:nvPr/>
        </p:nvSpPr>
        <p:spPr bwMode="auto">
          <a:xfrm>
            <a:off x="5010912" y="2157984"/>
            <a:ext cx="3657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5928633" name="Shape 11"/>
          <p:cNvSpPr/>
          <p:nvPr/>
        </p:nvSpPr>
        <p:spPr bwMode="auto">
          <a:xfrm>
            <a:off x="5385816" y="1874520"/>
            <a:ext cx="187452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54049127" name="Text 12"/>
          <p:cNvSpPr/>
          <p:nvPr/>
        </p:nvSpPr>
        <p:spPr bwMode="auto">
          <a:xfrm>
            <a:off x="5385816" y="1874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自旋等宿主</a:t>
            </a:r>
            <a:endParaRPr lang="en-US" sz="1250"/>
          </a:p>
        </p:txBody>
      </p:sp>
      <p:sp>
        <p:nvSpPr>
          <p:cNvPr id="1981264239" name="Shape 13"/>
          <p:cNvSpPr/>
          <p:nvPr/>
        </p:nvSpPr>
        <p:spPr bwMode="auto">
          <a:xfrm>
            <a:off x="7269480" y="2157984"/>
            <a:ext cx="3657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2621041" name="Shape 14"/>
          <p:cNvSpPr/>
          <p:nvPr/>
        </p:nvSpPr>
        <p:spPr bwMode="auto">
          <a:xfrm>
            <a:off x="7644384" y="1874520"/>
            <a:ext cx="187452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74243780" name="Text 15"/>
          <p:cNvSpPr/>
          <p:nvPr/>
        </p:nvSpPr>
        <p:spPr bwMode="auto">
          <a:xfrm>
            <a:off x="7644384" y="1874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应答返回</a:t>
            </a:r>
            <a:endParaRPr lang="en-US" sz="1250"/>
          </a:p>
        </p:txBody>
      </p:sp>
      <p:sp>
        <p:nvSpPr>
          <p:cNvPr id="499929504" name="Shape 16"/>
          <p:cNvSpPr/>
          <p:nvPr/>
        </p:nvSpPr>
        <p:spPr bwMode="auto">
          <a:xfrm>
            <a:off x="9902952" y="1874520"/>
            <a:ext cx="1600200" cy="566928"/>
          </a:xfrm>
          <a:prstGeom prst="roundRect">
            <a:avLst>
              <a:gd name="adj" fmla="val 8871"/>
            </a:avLst>
          </a:prstGeom>
          <a:solidFill>
            <a:srgbClr val="FFF7ED"/>
          </a:solidFill>
          <a:ln/>
        </p:spPr>
      </p:sp>
      <p:sp>
        <p:nvSpPr>
          <p:cNvPr id="1029637581" name="Text 17"/>
          <p:cNvSpPr/>
          <p:nvPr/>
        </p:nvSpPr>
        <p:spPr bwMode="auto">
          <a:xfrm>
            <a:off x="9902952" y="18745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每帧 3~5 轮</a:t>
            </a:r>
            <a:endParaRPr lang="en-US" sz="1250"/>
          </a:p>
        </p:txBody>
      </p:sp>
      <p:sp>
        <p:nvSpPr>
          <p:cNvPr id="252142228" name="Text 18"/>
          <p:cNvSpPr/>
          <p:nvPr/>
        </p:nvSpPr>
        <p:spPr bwMode="auto">
          <a:xfrm>
            <a:off x="685800" y="2670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SUBMIT 阻塞到渲染完成 —— 宿主渲染期间,guest 完全空转;T帧 ≈ Σ(每环节处理 + RTT),零重叠</a:t>
            </a:r>
            <a:endParaRPr lang="en-US" sz="1300"/>
          </a:p>
        </p:txBody>
      </p:sp>
      <p:sp>
        <p:nvSpPr>
          <p:cNvPr id="733856349" name="Shape 19"/>
          <p:cNvSpPr/>
          <p:nvPr/>
        </p:nvSpPr>
        <p:spPr bwMode="auto">
          <a:xfrm>
            <a:off x="457200" y="3584448"/>
            <a:ext cx="11274552" cy="2194560"/>
          </a:xfrm>
          <a:prstGeom prst="roundRect">
            <a:avLst>
              <a:gd name="adj" fmla="val 2292"/>
            </a:avLst>
          </a:prstGeom>
          <a:solidFill>
            <a:srgbClr val="F0FDFA"/>
          </a:solidFill>
          <a:ln/>
        </p:spPr>
      </p:sp>
      <p:sp>
        <p:nvSpPr>
          <p:cNvPr id="1250878768" name="Text 20"/>
          <p:cNvSpPr/>
          <p:nvPr/>
        </p:nvSpPr>
        <p:spPr bwMode="auto">
          <a:xfrm>
            <a:off x="685800" y="37124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异步模型 —— fire-and-forget + 真 fence(对齐 Linux 提交模型)</a:t>
            </a:r>
            <a:endParaRPr lang="en-US" sz="1500"/>
          </a:p>
        </p:txBody>
      </p:sp>
      <p:sp>
        <p:nvSpPr>
          <p:cNvPr id="665866973" name="Shape 21"/>
          <p:cNvSpPr/>
          <p:nvPr/>
        </p:nvSpPr>
        <p:spPr bwMode="auto">
          <a:xfrm>
            <a:off x="868680" y="4160519"/>
            <a:ext cx="2395728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/>
        </p:spPr>
      </p:sp>
      <p:sp>
        <p:nvSpPr>
          <p:cNvPr id="1258312039" name="Text 22"/>
          <p:cNvSpPr/>
          <p:nvPr/>
        </p:nvSpPr>
        <p:spPr bwMode="auto">
          <a:xfrm>
            <a:off x="868680" y="4160519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提交 + fence_id</a:t>
            </a:r>
            <a:endParaRPr lang="en-US" sz="1200"/>
          </a:p>
        </p:txBody>
      </p:sp>
      <p:sp>
        <p:nvSpPr>
          <p:cNvPr id="1759462075" name="Shape 23"/>
          <p:cNvSpPr/>
          <p:nvPr/>
        </p:nvSpPr>
        <p:spPr bwMode="auto">
          <a:xfrm>
            <a:off x="3273552" y="4443984"/>
            <a:ext cx="301752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781688643" name="Shape 24"/>
          <p:cNvSpPr/>
          <p:nvPr/>
        </p:nvSpPr>
        <p:spPr bwMode="auto">
          <a:xfrm>
            <a:off x="3584448" y="4160519"/>
            <a:ext cx="2395728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/>
        </p:spPr>
      </p:sp>
      <p:sp>
        <p:nvSpPr>
          <p:cNvPr id="1141350680" name="Text 25"/>
          <p:cNvSpPr/>
          <p:nvPr/>
        </p:nvSpPr>
        <p:spPr bwMode="auto">
          <a:xfrm>
            <a:off x="3584448" y="4160519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ioctl 立即返回</a:t>
            </a:r>
            <a:endParaRPr lang="en-US" sz="1200"/>
          </a:p>
        </p:txBody>
      </p:sp>
      <p:sp>
        <p:nvSpPr>
          <p:cNvPr id="2047629812" name="Shape 26"/>
          <p:cNvSpPr/>
          <p:nvPr/>
        </p:nvSpPr>
        <p:spPr bwMode="auto">
          <a:xfrm>
            <a:off x="5989320" y="4443984"/>
            <a:ext cx="301752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322590769" name="Shape 27"/>
          <p:cNvSpPr/>
          <p:nvPr/>
        </p:nvSpPr>
        <p:spPr bwMode="auto">
          <a:xfrm>
            <a:off x="6300216" y="4160519"/>
            <a:ext cx="2395728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/>
        </p:spPr>
      </p:sp>
      <p:sp>
        <p:nvSpPr>
          <p:cNvPr id="2052234462" name="Text 28"/>
          <p:cNvSpPr/>
          <p:nvPr/>
        </p:nvSpPr>
        <p:spPr bwMode="auto">
          <a:xfrm>
            <a:off x="6300216" y="4160519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编码下一帧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与宿主渲染重叠</a:t>
            </a:r>
            <a:endParaRPr lang="en-US" sz="1200"/>
          </a:p>
        </p:txBody>
      </p:sp>
      <p:sp>
        <p:nvSpPr>
          <p:cNvPr id="1924285108" name="Shape 29"/>
          <p:cNvSpPr/>
          <p:nvPr/>
        </p:nvSpPr>
        <p:spPr bwMode="auto">
          <a:xfrm>
            <a:off x="8705088" y="4443984"/>
            <a:ext cx="301752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07352669" name="Shape 30"/>
          <p:cNvSpPr/>
          <p:nvPr/>
        </p:nvSpPr>
        <p:spPr bwMode="auto">
          <a:xfrm>
            <a:off x="9015984" y="4160519"/>
            <a:ext cx="2395728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/>
        </p:spPr>
      </p:sp>
      <p:sp>
        <p:nvSpPr>
          <p:cNvPr id="1216034404" name="Text 31"/>
          <p:cNvSpPr/>
          <p:nvPr/>
        </p:nvSpPr>
        <p:spPr bwMode="auto">
          <a:xfrm>
            <a:off x="9015984" y="4160519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fence 完成翻转</a:t>
            </a:r>
            <a:endParaRPr lang="en-US" sz="1200"/>
          </a:p>
        </p:txBody>
      </p:sp>
      <p:sp>
        <p:nvSpPr>
          <p:cNvPr id="1312840797" name="Text 32"/>
          <p:cNvSpPr/>
          <p:nvPr/>
        </p:nvSpPr>
        <p:spPr bwMode="auto">
          <a:xfrm>
            <a:off x="685800" y="4956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唯一保留的等待是 fence:它表达真实的 GPU 依赖,不可消除、只能被流水线隐藏</a:t>
            </a:r>
            <a:endParaRPr lang="en-US" sz="1300"/>
          </a:p>
          <a:p>
            <a:pPr marL="0" indent="0" algn="l">
              <a:buNone/>
              <a:defRPr/>
            </a:pPr>
            <a:r>
              <a:rPr lang="en-US" sz="13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T帧 ≈ max(guest 每帧编码, 宿主每帧渲染) + 一次批量 kick + fence 唤醒延迟</a:t>
            </a:r>
            <a:endParaRPr lang="en-US" sz="1300"/>
          </a:p>
        </p:txBody>
      </p:sp>
      <p:sp>
        <p:nvSpPr>
          <p:cNvPr id="1915728352" name="Text 33"/>
          <p:cNvSpPr/>
          <p:nvPr/>
        </p:nvSpPr>
        <p:spPr bwMode="auto"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伏笔:只异步化「看得见」的两个同步点,实测反而更慢(362 / 357 &lt; 405)—— 真正的工作是把每帧隐藏的同步点全部数出来。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401096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06</a:t>
            </a:r>
            <a:endParaRPr lang="en-US" sz="1200"/>
          </a:p>
        </p:txBody>
      </p:sp>
      <p:sp>
        <p:nvSpPr>
          <p:cNvPr id="1692059046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04 · 阶段一(第 1~5 周)</a:t>
            </a:r>
            <a:endParaRPr lang="en-US" sz="1200"/>
          </a:p>
        </p:txBody>
      </p:sp>
      <p:sp>
        <p:nvSpPr>
          <p:cNvPr id="1218214333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功能打通:从协议调研到完整出分</a:t>
            </a:r>
            <a:endParaRPr lang="en-US" sz="2600"/>
          </a:p>
        </p:txBody>
      </p:sp>
      <p:sp>
        <p:nvSpPr>
          <p:cNvPr id="618358982" name="Text 3"/>
          <p:cNvSpPr/>
          <p:nvPr/>
        </p:nvSpPr>
        <p:spPr bwMode="auto">
          <a:xfrm>
            <a:off x="45720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01</a:t>
            </a:r>
            <a:endParaRPr lang="en-US" sz="1600"/>
          </a:p>
        </p:txBody>
      </p:sp>
      <p:sp>
        <p:nvSpPr>
          <p:cNvPr id="243108593" name="Text 4"/>
          <p:cNvSpPr/>
          <p:nvPr/>
        </p:nvSpPr>
        <p:spPr bwMode="auto">
          <a:xfrm>
            <a:off x="1024128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协议调研</a:t>
            </a:r>
            <a:endParaRPr lang="en-US" sz="1450"/>
          </a:p>
        </p:txBody>
      </p:sp>
      <p:sp>
        <p:nvSpPr>
          <p:cNvPr id="379583183" name="Text 5"/>
          <p:cNvSpPr/>
          <p:nvPr/>
        </p:nvSpPr>
        <p:spPr bwMode="auto">
          <a:xfrm>
            <a:off x="1024128" y="168249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Linux virtio 驱动 / virtio_gpu.h / Mesa virgl.xml,字节级布局表</a:t>
            </a:r>
            <a:endParaRPr lang="en-US" sz="1200"/>
          </a:p>
        </p:txBody>
      </p:sp>
      <p:sp>
        <p:nvSpPr>
          <p:cNvPr id="1637331115" name="Shape 6"/>
          <p:cNvSpPr/>
          <p:nvPr/>
        </p:nvSpPr>
        <p:spPr bwMode="auto">
          <a:xfrm>
            <a:off x="1024128" y="2121408"/>
            <a:ext cx="5349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3033252" name="Text 7"/>
          <p:cNvSpPr/>
          <p:nvPr/>
        </p:nvSpPr>
        <p:spPr bwMode="auto">
          <a:xfrm>
            <a:off x="457200" y="2176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02</a:t>
            </a:r>
            <a:endParaRPr lang="en-US" sz="1600"/>
          </a:p>
        </p:txBody>
      </p:sp>
      <p:sp>
        <p:nvSpPr>
          <p:cNvPr id="1298460877" name="Text 8"/>
          <p:cNvSpPr/>
          <p:nvPr/>
        </p:nvSpPr>
        <p:spPr bwMode="auto">
          <a:xfrm>
            <a:off x="1024128" y="21762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驱动 3D 扩展</a:t>
            </a:r>
            <a:endParaRPr lang="en-US" sz="1450"/>
          </a:p>
        </p:txBody>
      </p:sp>
      <p:sp>
        <p:nvSpPr>
          <p:cNvPr id="1499506425" name="Text 9"/>
          <p:cNvSpPr/>
          <p:nvPr/>
        </p:nvSpPr>
        <p:spPr bwMode="auto">
          <a:xfrm>
            <a:off x="1024128" y="24871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fork virtio-drivers:3D 命令面,opcode 与 Linux 头文件逐一对表</a:t>
            </a:r>
            <a:endParaRPr lang="en-US" sz="1200"/>
          </a:p>
        </p:txBody>
      </p:sp>
      <p:sp>
        <p:nvSpPr>
          <p:cNvPr id="1765385774" name="Shape 10"/>
          <p:cNvSpPr/>
          <p:nvPr/>
        </p:nvSpPr>
        <p:spPr bwMode="auto">
          <a:xfrm>
            <a:off x="1024128" y="2926080"/>
            <a:ext cx="5349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04684600" name="Text 11"/>
          <p:cNvSpPr/>
          <p:nvPr/>
        </p:nvSpPr>
        <p:spPr bwMode="auto">
          <a:xfrm>
            <a:off x="457200" y="2980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03</a:t>
            </a:r>
            <a:endParaRPr lang="en-US" sz="1600"/>
          </a:p>
        </p:txBody>
      </p:sp>
      <p:sp>
        <p:nvSpPr>
          <p:cNvPr id="276095442" name="Text 12"/>
          <p:cNvSpPr/>
          <p:nvPr/>
        </p:nvSpPr>
        <p:spPr bwMode="auto">
          <a:xfrm>
            <a:off x="1024128" y="29809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三层封装</a:t>
            </a:r>
            <a:endParaRPr lang="en-US" sz="1450"/>
          </a:p>
        </p:txBody>
      </p:sp>
      <p:sp>
        <p:nvSpPr>
          <p:cNvPr id="2071389306" name="Text 13"/>
          <p:cNvSpPr/>
          <p:nvPr/>
        </p:nvSpPr>
        <p:spPr bwMode="auto">
          <a:xfrm>
            <a:off x="1024128" y="3291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rdif-display 合同 → ax-driver 实现 → axdisplay 门面</a:t>
            </a:r>
            <a:endParaRPr lang="en-US" sz="1200"/>
          </a:p>
        </p:txBody>
      </p:sp>
      <p:sp>
        <p:nvSpPr>
          <p:cNvPr id="1571010333" name="Shape 14"/>
          <p:cNvSpPr/>
          <p:nvPr/>
        </p:nvSpPr>
        <p:spPr bwMode="auto">
          <a:xfrm>
            <a:off x="1024128" y="3730752"/>
            <a:ext cx="5349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55260547" name="Text 15"/>
          <p:cNvSpPr/>
          <p:nvPr/>
        </p:nvSpPr>
        <p:spPr bwMode="auto">
          <a:xfrm>
            <a:off x="457200" y="3785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04</a:t>
            </a:r>
            <a:endParaRPr lang="en-US" sz="1600"/>
          </a:p>
        </p:txBody>
      </p:sp>
      <p:sp>
        <p:nvSpPr>
          <p:cNvPr id="1085016430" name="Text 16"/>
          <p:cNvSpPr/>
          <p:nvPr/>
        </p:nvSpPr>
        <p:spPr bwMode="auto">
          <a:xfrm>
            <a:off x="1024128" y="37856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DRM 设备层</a:t>
            </a:r>
            <a:endParaRPr lang="en-US" sz="1450"/>
          </a:p>
        </p:txBody>
      </p:sp>
      <p:sp>
        <p:nvSpPr>
          <p:cNvPr id="938357123" name="Text 17"/>
          <p:cNvSpPr/>
          <p:nvPr/>
        </p:nvSpPr>
        <p:spPr bwMode="auto">
          <a:xfrm>
            <a:off x="1024128" y="40965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11 个 VIRTGPU ioctl,handler 与 Linux 一一对应</a:t>
            </a:r>
            <a:endParaRPr lang="en-US" sz="1200"/>
          </a:p>
        </p:txBody>
      </p:sp>
      <p:sp>
        <p:nvSpPr>
          <p:cNvPr id="1998323308" name="Shape 18"/>
          <p:cNvSpPr/>
          <p:nvPr/>
        </p:nvSpPr>
        <p:spPr bwMode="auto">
          <a:xfrm>
            <a:off x="1024128" y="4535424"/>
            <a:ext cx="5349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1369822" name="Text 19"/>
          <p:cNvSpPr/>
          <p:nvPr/>
        </p:nvSpPr>
        <p:spPr bwMode="auto">
          <a:xfrm>
            <a:off x="457200" y="4590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05</a:t>
            </a:r>
            <a:endParaRPr lang="en-US" sz="1600"/>
          </a:p>
        </p:txBody>
      </p:sp>
      <p:sp>
        <p:nvSpPr>
          <p:cNvPr id="1415517545" name="Text 20"/>
          <p:cNvSpPr/>
          <p:nvPr/>
        </p:nvSpPr>
        <p:spPr bwMode="auto">
          <a:xfrm>
            <a:off x="1024128" y="45902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认卡失配</a:t>
            </a:r>
            <a:endParaRPr lang="en-US" sz="1450"/>
          </a:p>
        </p:txBody>
      </p:sp>
      <p:sp>
        <p:nvSpPr>
          <p:cNvPr id="392844016" name="Text 21"/>
          <p:cNvSpPr/>
          <p:nvPr/>
        </p:nvSpPr>
        <p:spPr bwMode="auto">
          <a:xfrm>
            <a:off x="1024128" y="490118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sysfs 驱动名 / renderD128 / ioctl 布局 64B/48B / GETPARAM 指针</a:t>
            </a:r>
            <a:endParaRPr lang="en-US" sz="1200"/>
          </a:p>
        </p:txBody>
      </p:sp>
      <p:sp>
        <p:nvSpPr>
          <p:cNvPr id="1647330237" name="Shape 22"/>
          <p:cNvSpPr/>
          <p:nvPr/>
        </p:nvSpPr>
        <p:spPr bwMode="auto">
          <a:xfrm>
            <a:off x="1024128" y="5340096"/>
            <a:ext cx="5349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35969000" name="Text 23"/>
          <p:cNvSpPr/>
          <p:nvPr/>
        </p:nvSpPr>
        <p:spPr bwMode="auto">
          <a:xfrm>
            <a:off x="457200" y="5394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06</a:t>
            </a:r>
            <a:endParaRPr lang="en-US" sz="1600"/>
          </a:p>
        </p:txBody>
      </p:sp>
      <p:sp>
        <p:nvSpPr>
          <p:cNvPr id="251485847" name="Text 24"/>
          <p:cNvSpPr/>
          <p:nvPr/>
        </p:nvSpPr>
        <p:spPr bwMode="auto">
          <a:xfrm>
            <a:off x="1024128" y="53949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黑屏修复</a:t>
            </a:r>
            <a:endParaRPr lang="en-US" sz="1450"/>
          </a:p>
        </p:txBody>
      </p:sp>
      <p:sp>
        <p:nvSpPr>
          <p:cNvPr id="1384598957" name="Text 25"/>
          <p:cNvSpPr/>
          <p:nvPr/>
        </p:nvSpPr>
        <p:spPr bwMode="auto">
          <a:xfrm>
            <a:off x="1024128" y="570585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FbBacking::Gpu3d —— set_scanout 让宿主零拷贝直接上屏</a:t>
            </a:r>
            <a:endParaRPr lang="en-US" sz="1200"/>
          </a:p>
        </p:txBody>
      </p:sp>
      <p:sp>
        <p:nvSpPr>
          <p:cNvPr id="2106518610" name="Shape 26"/>
          <p:cNvSpPr/>
          <p:nvPr/>
        </p:nvSpPr>
        <p:spPr bwMode="auto">
          <a:xfrm>
            <a:off x="6583680" y="1371600"/>
            <a:ext cx="5148072" cy="1783080"/>
          </a:xfrm>
          <a:prstGeom prst="roundRect">
            <a:avLst>
              <a:gd name="adj" fmla="val 2821"/>
            </a:avLst>
          </a:prstGeom>
          <a:solidFill>
            <a:srgbClr val="0F172A"/>
          </a:solidFill>
          <a:ln/>
        </p:spPr>
      </p:sp>
      <p:sp>
        <p:nvSpPr>
          <p:cNvPr id="648022521" name="Text 27"/>
          <p:cNvSpPr/>
          <p:nvPr/>
        </p:nvSpPr>
        <p:spPr bwMode="auto">
          <a:xfrm>
            <a:off x="6784848" y="1481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virgl-test · guest serial</a:t>
            </a:r>
            <a:endParaRPr lang="en-US" sz="1150"/>
          </a:p>
        </p:txBody>
      </p:sp>
      <p:sp>
        <p:nvSpPr>
          <p:cNvPr id="1200889797" name="Text 28"/>
          <p:cNvSpPr/>
          <p:nvPr/>
        </p:nvSpPr>
        <p:spPr bwMode="auto">
          <a:xfrm>
            <a:off x="6784848" y="17830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GL_VENDOR:    Mesa</a:t>
            </a:r>
            <a:endParaRPr lang="en-US" sz="1200"/>
          </a:p>
          <a:p>
            <a:pPr marL="0" indent="0" algn="l">
              <a:spcAft>
                <a:spcPts val="400"/>
              </a:spcAft>
              <a:buNone/>
              <a:defRPr/>
            </a:pPr>
            <a:r>
              <a:rPr lang="en-US" sz="1200" b="1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GL_RENDERER:  virgl (AMD Radeon 780M ...)</a:t>
            </a:r>
            <a:endParaRPr lang="en-US" sz="1200"/>
          </a:p>
          <a:p>
            <a:pPr marL="0" indent="0" algn="l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GL_VERSION:   OpenGL ES 3.2 Mesa 25.2.7</a:t>
            </a:r>
            <a:endParaRPr lang="en-US" sz="1200"/>
          </a:p>
          <a:p>
            <a:pPr marL="0" indent="0" algn="l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glmark2 Score: 完整出分</a:t>
            </a:r>
            <a:endParaRPr lang="en-US" sz="1200"/>
          </a:p>
        </p:txBody>
      </p:sp>
      <p:sp>
        <p:nvSpPr>
          <p:cNvPr id="1716339996" name="Shape 29"/>
          <p:cNvSpPr/>
          <p:nvPr/>
        </p:nvSpPr>
        <p:spPr bwMode="auto">
          <a:xfrm>
            <a:off x="6583680" y="3310127"/>
            <a:ext cx="5148072" cy="27432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pic>
        <p:nvPicPr>
          <p:cNvPr id="491197344" name="Image 0" descr="/tmp/ppt-assets/mileston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00316" y="3401568"/>
            <a:ext cx="4114800" cy="2314575"/>
          </a:xfrm>
          <a:prstGeom prst="rect">
            <a:avLst/>
          </a:prstGeom>
        </p:spPr>
      </p:pic>
      <p:sp>
        <p:nvSpPr>
          <p:cNvPr id="1319800452" name="Text 30"/>
          <p:cNvSpPr/>
          <p:nvPr/>
        </p:nvSpPr>
        <p:spPr bwMode="auto">
          <a:xfrm>
            <a:off x="6766560" y="57424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第 5 周里程碑:Weston + glmark2 正常显示,比计划提前两周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34052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  <a:endParaRPr lang="en-US" sz="1200"/>
          </a:p>
        </p:txBody>
      </p:sp>
      <p:sp>
        <p:nvSpPr>
          <p:cNvPr id="424623966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05 · 性能战役</a:t>
            </a:r>
            <a:endParaRPr lang="en-US" sz="1200"/>
          </a:p>
        </p:txBody>
      </p:sp>
      <p:sp>
        <p:nvSpPr>
          <p:cNvPr id="1660610187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方法论:帧时间为北极星,数据裁决一切</a:t>
            </a:r>
            <a:endParaRPr lang="en-US" sz="2600"/>
          </a:p>
        </p:txBody>
      </p:sp>
      <p:sp>
        <p:nvSpPr>
          <p:cNvPr id="813797024" name="Shape 3"/>
          <p:cNvSpPr/>
          <p:nvPr/>
        </p:nvSpPr>
        <p:spPr bwMode="auto">
          <a:xfrm>
            <a:off x="548640" y="1600200"/>
            <a:ext cx="19202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778530920" name="Text 4"/>
          <p:cNvSpPr/>
          <p:nvPr/>
        </p:nvSpPr>
        <p:spPr bwMode="auto">
          <a:xfrm>
            <a:off x="5486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猜想</a:t>
            </a:r>
            <a:endParaRPr lang="en-US" sz="1400"/>
          </a:p>
        </p:txBody>
      </p:sp>
      <p:sp>
        <p:nvSpPr>
          <p:cNvPr id="305855392" name="Shape 5"/>
          <p:cNvSpPr/>
          <p:nvPr/>
        </p:nvSpPr>
        <p:spPr bwMode="auto">
          <a:xfrm>
            <a:off x="2487168" y="2057400"/>
            <a:ext cx="32918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5579466" name="Shape 6"/>
          <p:cNvSpPr/>
          <p:nvPr/>
        </p:nvSpPr>
        <p:spPr bwMode="auto">
          <a:xfrm>
            <a:off x="2834640" y="1600200"/>
            <a:ext cx="19202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967017779" name="Text 7"/>
          <p:cNvSpPr/>
          <p:nvPr/>
        </p:nvSpPr>
        <p:spPr bwMode="auto">
          <a:xfrm>
            <a:off x="28346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能证伪的实验</a:t>
            </a:r>
            <a:endParaRPr lang="en-US" sz="1400"/>
          </a:p>
        </p:txBody>
      </p:sp>
      <p:sp>
        <p:nvSpPr>
          <p:cNvPr id="1675746996" name="Shape 8"/>
          <p:cNvSpPr/>
          <p:nvPr/>
        </p:nvSpPr>
        <p:spPr bwMode="auto">
          <a:xfrm>
            <a:off x="4773168" y="2057400"/>
            <a:ext cx="32918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35043970" name="Shape 9"/>
          <p:cNvSpPr/>
          <p:nvPr/>
        </p:nvSpPr>
        <p:spPr bwMode="auto">
          <a:xfrm>
            <a:off x="5120640" y="1600200"/>
            <a:ext cx="19202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165526611" name="Text 10"/>
          <p:cNvSpPr/>
          <p:nvPr/>
        </p:nvSpPr>
        <p:spPr bwMode="auto">
          <a:xfrm>
            <a:off x="51206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修改</a:t>
            </a:r>
            <a:endParaRPr lang="en-US" sz="1400"/>
          </a:p>
        </p:txBody>
      </p:sp>
      <p:sp>
        <p:nvSpPr>
          <p:cNvPr id="731814778" name="Shape 11"/>
          <p:cNvSpPr/>
          <p:nvPr/>
        </p:nvSpPr>
        <p:spPr bwMode="auto">
          <a:xfrm>
            <a:off x="7059168" y="2057400"/>
            <a:ext cx="32918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15612706" name="Shape 12"/>
          <p:cNvSpPr/>
          <p:nvPr/>
        </p:nvSpPr>
        <p:spPr bwMode="auto">
          <a:xfrm>
            <a:off x="7406640" y="1600200"/>
            <a:ext cx="19202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841440583" name="Text 13"/>
          <p:cNvSpPr/>
          <p:nvPr/>
        </p:nvSpPr>
        <p:spPr bwMode="auto">
          <a:xfrm>
            <a:off x="74066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同机 A/B</a:t>
            </a:r>
            <a:endParaRPr lang="en-US" sz="1400"/>
          </a:p>
        </p:txBody>
      </p:sp>
      <p:sp>
        <p:nvSpPr>
          <p:cNvPr id="446602682" name="Shape 14"/>
          <p:cNvSpPr/>
          <p:nvPr/>
        </p:nvSpPr>
        <p:spPr bwMode="auto">
          <a:xfrm>
            <a:off x="9345168" y="2057400"/>
            <a:ext cx="329184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23986054" name="Shape 15"/>
          <p:cNvSpPr/>
          <p:nvPr/>
        </p:nvSpPr>
        <p:spPr bwMode="auto">
          <a:xfrm>
            <a:off x="9692640" y="1600200"/>
            <a:ext cx="1920240" cy="9144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 w="1587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561269425" name="Text 16"/>
          <p:cNvSpPr/>
          <p:nvPr/>
        </p:nvSpPr>
        <p:spPr bwMode="auto">
          <a:xfrm>
            <a:off x="96926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数据裁决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保留 / 回滚</a:t>
            </a:r>
            <a:endParaRPr lang="en-US" sz="1400"/>
          </a:p>
        </p:txBody>
      </p:sp>
      <p:sp>
        <p:nvSpPr>
          <p:cNvPr id="128013802" name="Shape 17"/>
          <p:cNvSpPr/>
          <p:nvPr/>
        </p:nvSpPr>
        <p:spPr bwMode="auto">
          <a:xfrm>
            <a:off x="10881360" y="2542032"/>
            <a:ext cx="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070840894" name="Text 18"/>
          <p:cNvSpPr/>
          <p:nvPr/>
        </p:nvSpPr>
        <p:spPr bwMode="auto">
          <a:xfrm>
            <a:off x="3200400" y="26151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每个结论都要有反事实数据 —— 失败的实验和成功的修复同样值钱</a:t>
            </a:r>
            <a:endParaRPr lang="en-US" sz="1200"/>
          </a:p>
        </p:txBody>
      </p:sp>
      <p:sp>
        <p:nvSpPr>
          <p:cNvPr id="1997549784" name="Text 19"/>
          <p:cNvSpPr/>
          <p:nvPr/>
        </p:nvSpPr>
        <p:spPr bwMode="auto">
          <a:xfrm>
            <a:off x="45720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测量资产(归因不靠猜)</a:t>
            </a:r>
            <a:endParaRPr lang="en-US" sz="1400"/>
          </a:p>
        </p:txBody>
      </p:sp>
      <p:sp>
        <p:nvSpPr>
          <p:cNvPr id="564419994" name="Shape 20"/>
          <p:cNvSpPr/>
          <p:nvPr/>
        </p:nvSpPr>
        <p:spPr bwMode="auto">
          <a:xfrm>
            <a:off x="457200" y="3703320"/>
            <a:ext cx="2130552" cy="960120"/>
          </a:xfrm>
          <a:prstGeom prst="roundRect">
            <a:avLst>
              <a:gd name="adj" fmla="val 5238"/>
            </a:avLst>
          </a:prstGeom>
          <a:solidFill>
            <a:srgbClr val="F8FAFC"/>
          </a:solidFill>
          <a:ln/>
        </p:spPr>
      </p:sp>
      <p:sp>
        <p:nvSpPr>
          <p:cNvPr id="503343423" name="Text 21"/>
          <p:cNvSpPr/>
          <p:nvPr/>
        </p:nvSpPr>
        <p:spPr bwMode="auto">
          <a:xfrm>
            <a:off x="457200" y="370332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QEMU tracepoint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命令计数</a:t>
            </a:r>
            <a:endParaRPr lang="en-US" sz="1200"/>
          </a:p>
        </p:txBody>
      </p:sp>
      <p:sp>
        <p:nvSpPr>
          <p:cNvPr id="1152583217" name="Shape 22"/>
          <p:cNvSpPr/>
          <p:nvPr/>
        </p:nvSpPr>
        <p:spPr bwMode="auto">
          <a:xfrm>
            <a:off x="2743200" y="3703320"/>
            <a:ext cx="2130552" cy="960120"/>
          </a:xfrm>
          <a:prstGeom prst="roundRect">
            <a:avLst>
              <a:gd name="adj" fmla="val 5238"/>
            </a:avLst>
          </a:prstGeom>
          <a:solidFill>
            <a:srgbClr val="F8FAFC"/>
          </a:solidFill>
          <a:ln/>
        </p:spPr>
      </p:sp>
      <p:sp>
        <p:nvSpPr>
          <p:cNvPr id="1996742712" name="Text 23"/>
          <p:cNvSpPr/>
          <p:nvPr/>
        </p:nvSpPr>
        <p:spPr bwMode="auto">
          <a:xfrm>
            <a:off x="2743200" y="370332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LD_PRELOAD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拦截 ioctl(六版)</a:t>
            </a:r>
            <a:endParaRPr lang="en-US" sz="1200"/>
          </a:p>
        </p:txBody>
      </p:sp>
      <p:sp>
        <p:nvSpPr>
          <p:cNvPr id="875506613" name="Shape 24"/>
          <p:cNvSpPr/>
          <p:nvPr/>
        </p:nvSpPr>
        <p:spPr bwMode="auto">
          <a:xfrm>
            <a:off x="5029200" y="3703320"/>
            <a:ext cx="2130552" cy="960120"/>
          </a:xfrm>
          <a:prstGeom prst="roundRect">
            <a:avLst>
              <a:gd name="adj" fmla="val 5238"/>
            </a:avLst>
          </a:prstGeom>
          <a:solidFill>
            <a:srgbClr val="F8FAFC"/>
          </a:solidFill>
          <a:ln/>
        </p:spPr>
      </p:sp>
      <p:sp>
        <p:nvSpPr>
          <p:cNvPr id="370069306" name="Text 25"/>
          <p:cNvSpPr/>
          <p:nvPr/>
        </p:nvSpPr>
        <p:spPr bwMode="auto">
          <a:xfrm>
            <a:off x="5029200" y="370332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QMP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virtio 队列取证</a:t>
            </a:r>
            <a:endParaRPr lang="en-US" sz="1200"/>
          </a:p>
        </p:txBody>
      </p:sp>
      <p:sp>
        <p:nvSpPr>
          <p:cNvPr id="571825732" name="Shape 26"/>
          <p:cNvSpPr/>
          <p:nvPr/>
        </p:nvSpPr>
        <p:spPr bwMode="auto">
          <a:xfrm>
            <a:off x="7315200" y="3703320"/>
            <a:ext cx="2130552" cy="960120"/>
          </a:xfrm>
          <a:prstGeom prst="roundRect">
            <a:avLst>
              <a:gd name="adj" fmla="val 5238"/>
            </a:avLst>
          </a:prstGeom>
          <a:solidFill>
            <a:srgbClr val="F8FAFC"/>
          </a:solidFill>
          <a:ln/>
        </p:spPr>
      </p:sp>
      <p:sp>
        <p:nvSpPr>
          <p:cNvPr id="847454310" name="Text 27"/>
          <p:cNvSpPr/>
          <p:nvPr/>
        </p:nvSpPr>
        <p:spPr bwMode="auto">
          <a:xfrm>
            <a:off x="7315200" y="370332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HMP xp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宿主内存直读</a:t>
            </a:r>
            <a:endParaRPr lang="en-US" sz="1200"/>
          </a:p>
        </p:txBody>
      </p:sp>
      <p:sp>
        <p:nvSpPr>
          <p:cNvPr id="2065772527" name="Shape 28"/>
          <p:cNvSpPr/>
          <p:nvPr/>
        </p:nvSpPr>
        <p:spPr bwMode="auto">
          <a:xfrm>
            <a:off x="9601200" y="3703320"/>
            <a:ext cx="2130552" cy="960120"/>
          </a:xfrm>
          <a:prstGeom prst="roundRect">
            <a:avLst>
              <a:gd name="adj" fmla="val 5238"/>
            </a:avLst>
          </a:prstGeom>
          <a:solidFill>
            <a:srgbClr val="F8FAFC"/>
          </a:solidFill>
          <a:ln/>
        </p:spPr>
      </p:sp>
      <p:sp>
        <p:nvSpPr>
          <p:cNvPr id="2093654752" name="Text 29"/>
          <p:cNvSpPr/>
          <p:nvPr/>
        </p:nvSpPr>
        <p:spPr bwMode="auto">
          <a:xfrm>
            <a:off x="9601200" y="370332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瀑布插桩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逐段计时</a:t>
            </a:r>
            <a:endParaRPr lang="en-US" sz="1200"/>
          </a:p>
        </p:txBody>
      </p:sp>
      <p:sp>
        <p:nvSpPr>
          <p:cNvPr id="1230694443" name="Shape 30"/>
          <p:cNvSpPr/>
          <p:nvPr/>
        </p:nvSpPr>
        <p:spPr bwMode="auto">
          <a:xfrm>
            <a:off x="457200" y="5120640"/>
            <a:ext cx="11274552" cy="868680"/>
          </a:xfrm>
          <a:prstGeom prst="roundRect">
            <a:avLst>
              <a:gd name="adj" fmla="val 5789"/>
            </a:avLst>
          </a:prstGeom>
          <a:solidFill>
            <a:srgbClr val="FFF7ED"/>
          </a:solidFill>
          <a:ln/>
        </p:spPr>
      </p:sp>
      <p:sp>
        <p:nvSpPr>
          <p:cNvPr id="2046470330" name="Text 31"/>
          <p:cNvSpPr/>
          <p:nvPr/>
        </p:nvSpPr>
        <p:spPr bwMode="auto">
          <a:xfrm>
            <a:off x="457200" y="51206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串口日志每行 ≈ 100 FPS 级开销 —— 任何测量必须先关日志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745513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08</a:t>
            </a:r>
            <a:endParaRPr lang="en-US" sz="1200"/>
          </a:p>
        </p:txBody>
      </p:sp>
      <p:sp>
        <p:nvSpPr>
          <p:cNvPr id="1463742511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06 · 性能战役</a:t>
            </a:r>
            <a:endParaRPr lang="en-US" sz="1200"/>
          </a:p>
        </p:txBody>
      </p:sp>
      <p:sp>
        <p:nvSpPr>
          <p:cNvPr id="54757681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异步化第一次反而更慢:362/357 &lt; 405 —— 输在 47 个隐藏的同步往返</a:t>
            </a:r>
            <a:endParaRPr lang="en-US" sz="2600"/>
          </a:p>
        </p:txBody>
      </p:sp>
      <p:graphicFrame>
        <p:nvGraphicFramePr>
          <p:cNvPr id="119374786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371600"/>
          <a:ext cx="6035039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68680"/>
                <a:gridCol w="3931920"/>
                <a:gridCol w="1234440"/>
              </a:tblGrid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改动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Score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</a:tr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 + FENCE 开(等渲染完才返回)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367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exp4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 + FENCE 关 —— 基线 B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405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exp5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EXECBUFFER 异步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362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exp6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 present 异步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fix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attach 每 (ctx, res) 只挂一次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406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51206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full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生命周期命令全部 fire-and-forget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0F76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439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903891789" name="Text 3"/>
          <p:cNvSpPr/>
          <p:nvPr/>
        </p:nvSpPr>
        <p:spPr bwMode="auto">
          <a:xfrm>
            <a:off x="6812280" y="1298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60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36.5</a:t>
            </a:r>
            <a:endParaRPr lang="en-US" sz="6000"/>
          </a:p>
        </p:txBody>
      </p:sp>
      <p:sp>
        <p:nvSpPr>
          <p:cNvPr id="657590755" name="Text 4"/>
          <p:cNvSpPr/>
          <p:nvPr/>
        </p:nvSpPr>
        <p:spPr bwMode="auto">
          <a:xfrm>
            <a:off x="681228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次/帧 资源挂载(Linux:0)· 47 项中最大</a:t>
            </a:r>
            <a:endParaRPr lang="en-US" sz="13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一个 run 累计 828,394 次</a:t>
            </a:r>
            <a:endParaRPr lang="en-US" sz="1300"/>
          </a:p>
        </p:txBody>
      </p:sp>
      <p:sp>
        <p:nvSpPr>
          <p:cNvPr id="1900584707" name="Shape 5"/>
          <p:cNvSpPr/>
          <p:nvPr/>
        </p:nvSpPr>
        <p:spPr bwMode="auto">
          <a:xfrm>
            <a:off x="6812280" y="3017519"/>
            <a:ext cx="4919471" cy="1325880"/>
          </a:xfrm>
          <a:prstGeom prst="roundRect">
            <a:avLst>
              <a:gd name="adj" fmla="val 3793"/>
            </a:avLst>
          </a:prstGeom>
          <a:solidFill>
            <a:srgbClr val="F8FAFC"/>
          </a:solidFill>
          <a:ln/>
        </p:spPr>
      </p:sp>
      <p:sp>
        <p:nvSpPr>
          <p:cNvPr id="1414674613" name="Text 6"/>
          <p:cNvSpPr/>
          <p:nvPr/>
        </p:nvSpPr>
        <p:spPr bwMode="auto">
          <a:xfrm>
            <a:off x="7040880" y="31546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EA580C"/>
                </a:solidFill>
                <a:latin typeface="Consolas"/>
                <a:ea typeface="Consolas"/>
                <a:cs typeface="Consolas"/>
              </a:rPr>
              <a:t>根因 · 死字段 attached: bool</a:t>
            </a:r>
            <a:endParaRPr lang="en-US" sz="1400"/>
          </a:p>
        </p:txBody>
      </p:sp>
      <p:sp>
        <p:nvSpPr>
          <p:cNvPr id="1966025469" name="Text 7"/>
          <p:cNvSpPr/>
          <p:nvPr/>
        </p:nvSpPr>
        <p:spPr bwMode="auto">
          <a:xfrm>
            <a:off x="7040880" y="34930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5 处写 · 0 处读 → 每帧都当第一次挂载。对照 virtgpu_gem.c,正确语义是每(上下文,资源)只挂一次 —— weston 与 glmark2 共享同一批缓冲</a:t>
            </a:r>
            <a:endParaRPr lang="en-US" sz="1200"/>
          </a:p>
          <a:p>
            <a:pPr marL="0" indent="0" algn="l">
              <a:lnSpc>
                <a:spcPct val="120000"/>
              </a:lnSpc>
              <a:buNone/>
              <a:defRPr/>
            </a:pPr>
            <a:endParaRPr lang="en-US" sz="1200"/>
          </a:p>
        </p:txBody>
      </p:sp>
      <p:sp>
        <p:nvSpPr>
          <p:cNvPr id="1849657394" name="Shape 8"/>
          <p:cNvSpPr/>
          <p:nvPr/>
        </p:nvSpPr>
        <p:spPr bwMode="auto">
          <a:xfrm>
            <a:off x="6812280" y="4526280"/>
            <a:ext cx="4919471" cy="868680"/>
          </a:xfrm>
          <a:prstGeom prst="roundRect">
            <a:avLst>
              <a:gd name="adj" fmla="val 5789"/>
            </a:avLst>
          </a:prstGeom>
          <a:solidFill>
            <a:srgbClr val="F0FDFA"/>
          </a:solidFill>
          <a:ln/>
        </p:spPr>
      </p:sp>
      <p:sp>
        <p:nvSpPr>
          <p:cNvPr id="816015989" name="Text 9"/>
          <p:cNvSpPr/>
          <p:nvPr/>
        </p:nvSpPr>
        <p:spPr bwMode="auto">
          <a:xfrm>
            <a:off x="7040880" y="45262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修复后:每帧同步往返清零 —— 收益与移除的 RTT 数严格线性;</a:t>
            </a:r>
            <a:endParaRPr lang="en-US" sz="13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重场景收益是轻场景十倍(队列越深,RTT 越贵)</a:t>
            </a:r>
            <a:endParaRPr lang="en-US" sz="1300"/>
          </a:p>
        </p:txBody>
      </p:sp>
      <p:sp>
        <p:nvSpPr>
          <p:cNvPr id="1330012784" name="Text 10"/>
          <p:cNvSpPr/>
          <p:nvPr/>
        </p:nvSpPr>
        <p:spPr bwMode="auto">
          <a:xfrm>
            <a:off x="457200" y="5349240"/>
            <a:ext cx="60350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为什么输:EXECBUFFER 自己只占几十微秒,真正开销是藏在别处的 47 个 RTT/帧(29 attach + 18 创建/销毁/上传)—— 数完它们,异步化才有意义。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282195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09</a:t>
            </a:r>
            <a:endParaRPr lang="en-US" sz="1200"/>
          </a:p>
        </p:txBody>
      </p:sp>
      <p:sp>
        <p:nvSpPr>
          <p:cNvPr id="1160568347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07 · 性能战役</a:t>
            </a:r>
            <a:endParaRPr lang="en-US" sz="1200"/>
          </a:p>
        </p:txBody>
      </p:sp>
      <p:sp>
        <p:nvSpPr>
          <p:cNvPr id="1465889737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三个「看不见的浪费」</a:t>
            </a:r>
            <a:endParaRPr lang="en-US" sz="2600"/>
          </a:p>
        </p:txBody>
      </p:sp>
      <p:sp>
        <p:nvSpPr>
          <p:cNvPr id="2055131046" name="Shape 3"/>
          <p:cNvSpPr/>
          <p:nvPr/>
        </p:nvSpPr>
        <p:spPr bwMode="auto">
          <a:xfrm>
            <a:off x="457200" y="132588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797345603" name="Text 4"/>
          <p:cNvSpPr/>
          <p:nvPr/>
        </p:nvSpPr>
        <p:spPr bwMode="auto">
          <a:xfrm>
            <a:off x="685800" y="150875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 spc="1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浪费 ① · kick 策略</a:t>
            </a:r>
            <a:endParaRPr lang="en-US" sz="1200"/>
          </a:p>
        </p:txBody>
      </p:sp>
      <p:sp>
        <p:nvSpPr>
          <p:cNvPr id="1187324586" name="Text 5"/>
          <p:cNvSpPr/>
          <p:nvPr/>
        </p:nvSpPr>
        <p:spPr bwMode="auto">
          <a:xfrm>
            <a:off x="685800" y="1828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5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以「一次系统调用」为合并单位</a:t>
            </a:r>
            <a:endParaRPr lang="en-US" sz="1550"/>
          </a:p>
        </p:txBody>
      </p:sp>
      <p:sp>
        <p:nvSpPr>
          <p:cNvPr id="720780190" name="Text 6"/>
          <p:cNvSpPr/>
          <p:nvPr/>
        </p:nvSpPr>
        <p:spPr bwMode="auto">
          <a:xfrm>
            <a:off x="685800" y="25146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Linux 在 enqueue 时从不 notify,只做计数,kick 统一放在 ioctl 收尾——合并单位不是命令条数,而是一次系统调用;每条命令自行判断反而回退(5.16 kick/帧)。</a:t>
            </a:r>
            <a:endParaRPr lang="en-US" sz="1200"/>
          </a:p>
        </p:txBody>
      </p:sp>
      <p:sp>
        <p:nvSpPr>
          <p:cNvPr id="479691086" name="Text 7"/>
          <p:cNvSpPr/>
          <p:nvPr/>
        </p:nvSpPr>
        <p:spPr bwMode="auto">
          <a:xfrm>
            <a:off x="685800" y="416051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227~353µs → 35.6µs</a:t>
            </a:r>
            <a:endParaRPr lang="en-US" sz="2100"/>
          </a:p>
        </p:txBody>
      </p:sp>
      <p:sp>
        <p:nvSpPr>
          <p:cNvPr id="996384462" name="Text 8"/>
          <p:cNvSpPr/>
          <p:nvPr/>
        </p:nvSpPr>
        <p:spPr bwMode="auto">
          <a:xfrm>
            <a:off x="68580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ioctl 单价</a:t>
            </a:r>
            <a:endParaRPr lang="en-US" sz="1200"/>
          </a:p>
        </p:txBody>
      </p:sp>
      <p:sp>
        <p:nvSpPr>
          <p:cNvPr id="199141715" name="Shape 9"/>
          <p:cNvSpPr/>
          <p:nvPr/>
        </p:nvSpPr>
        <p:spPr bwMode="auto">
          <a:xfrm>
            <a:off x="685800" y="5029200"/>
            <a:ext cx="3273552" cy="457200"/>
          </a:xfrm>
          <a:prstGeom prst="roundRect">
            <a:avLst>
              <a:gd name="adj" fmla="val 11000"/>
            </a:avLst>
          </a:prstGeom>
          <a:solidFill>
            <a:srgbClr val="F0FDFA"/>
          </a:solidFill>
          <a:ln/>
        </p:spPr>
      </p:sp>
      <p:sp>
        <p:nvSpPr>
          <p:cNvPr id="1829896099" name="Text 10"/>
          <p:cNvSpPr/>
          <p:nvPr/>
        </p:nvSpPr>
        <p:spPr bwMode="auto">
          <a:xfrm>
            <a:off x="685800" y="502920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kick/帧 3.23(Linux 1.01)· 539 分</a:t>
            </a:r>
            <a:endParaRPr lang="en-US" sz="1200"/>
          </a:p>
        </p:txBody>
      </p:sp>
      <p:sp>
        <p:nvSpPr>
          <p:cNvPr id="88224913" name="Shape 11"/>
          <p:cNvSpPr/>
          <p:nvPr/>
        </p:nvSpPr>
        <p:spPr bwMode="auto">
          <a:xfrm>
            <a:off x="4229100" y="132588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187980920" name="Text 12"/>
          <p:cNvSpPr/>
          <p:nvPr/>
        </p:nvSpPr>
        <p:spPr bwMode="auto">
          <a:xfrm>
            <a:off x="4457700" y="150875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 spc="1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浪费 ② · 假 fence</a:t>
            </a:r>
            <a:endParaRPr lang="en-US" sz="1200"/>
          </a:p>
        </p:txBody>
      </p:sp>
      <p:sp>
        <p:nvSpPr>
          <p:cNvPr id="1466826863" name="Text 13"/>
          <p:cNvSpPr/>
          <p:nvPr/>
        </p:nvSpPr>
        <p:spPr bwMode="auto">
          <a:xfrm>
            <a:off x="4457700" y="1828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5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每帧一个 8×1 像素资源的侦探故事</a:t>
            </a:r>
            <a:endParaRPr lang="en-US" sz="1550"/>
          </a:p>
        </p:txBody>
      </p:sp>
      <p:sp>
        <p:nvSpPr>
          <p:cNvPr id="2101952834" name="Text 14"/>
          <p:cNvSpPr/>
          <p:nvPr/>
        </p:nvSpPr>
        <p:spPr bwMode="auto">
          <a:xfrm>
            <a:off x="4457700" y="25146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LD_PRELOAD 六版 + 反汇编定位 Mesa:它认为驱动不支持 fence-fd,退化 legacy 模式,拿小资源当 fence 用完就扔。根因 = DRIVER_VERSION_MINOR 写成 0。</a:t>
            </a:r>
            <a:endParaRPr lang="en-US" sz="1200"/>
          </a:p>
        </p:txBody>
      </p:sp>
      <p:sp>
        <p:nvSpPr>
          <p:cNvPr id="1192152399" name="Text 15"/>
          <p:cNvSpPr/>
          <p:nvPr/>
        </p:nvSpPr>
        <p:spPr bwMode="auto">
          <a:xfrm>
            <a:off x="4457700" y="416051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13 万次 → 0</a:t>
            </a:r>
            <a:endParaRPr lang="en-US" sz="2100"/>
          </a:p>
        </p:txBody>
      </p:sp>
      <p:sp>
        <p:nvSpPr>
          <p:cNvPr id="1189482093" name="Text 16"/>
          <p:cNvSpPr/>
          <p:nvPr/>
        </p:nvSpPr>
        <p:spPr bwMode="auto">
          <a:xfrm>
            <a:off x="445770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legacy 资源创建/每 run</a:t>
            </a:r>
            <a:endParaRPr lang="en-US" sz="1200"/>
          </a:p>
        </p:txBody>
      </p:sp>
      <p:sp>
        <p:nvSpPr>
          <p:cNvPr id="1387511404" name="Shape 17"/>
          <p:cNvSpPr/>
          <p:nvPr/>
        </p:nvSpPr>
        <p:spPr bwMode="auto">
          <a:xfrm>
            <a:off x="4457700" y="5029200"/>
            <a:ext cx="3273552" cy="457200"/>
          </a:xfrm>
          <a:prstGeom prst="roundRect">
            <a:avLst>
              <a:gd name="adj" fmla="val 11000"/>
            </a:avLst>
          </a:prstGeom>
          <a:solidFill>
            <a:srgbClr val="F0FDFA"/>
          </a:solidFill>
          <a:ln/>
        </p:spPr>
      </p:sp>
      <p:sp>
        <p:nvSpPr>
          <p:cNvPr id="745610067" name="Text 18"/>
          <p:cNvSpPr/>
          <p:nvPr/>
        </p:nvSpPr>
        <p:spPr bwMode="auto">
          <a:xfrm>
            <a:off x="4457700" y="502920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真 fence 语义落地 · texture 637</a:t>
            </a:r>
            <a:endParaRPr lang="en-US" sz="1200"/>
          </a:p>
        </p:txBody>
      </p:sp>
      <p:sp>
        <p:nvSpPr>
          <p:cNvPr id="1051398406" name="Shape 19"/>
          <p:cNvSpPr/>
          <p:nvPr/>
        </p:nvSpPr>
        <p:spPr bwMode="auto">
          <a:xfrm>
            <a:off x="8001000" y="132588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593266106" name="Text 20"/>
          <p:cNvSpPr/>
          <p:nvPr/>
        </p:nvSpPr>
        <p:spPr bwMode="auto">
          <a:xfrm>
            <a:off x="8229600" y="150875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 spc="1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浪费 ③ · 自唤醒与噪音</a:t>
            </a:r>
            <a:endParaRPr lang="en-US" sz="1200"/>
          </a:p>
        </p:txBody>
      </p:sp>
      <p:sp>
        <p:nvSpPr>
          <p:cNvPr id="669235054" name="Text 21"/>
          <p:cNvSpPr/>
          <p:nvPr/>
        </p:nvSpPr>
        <p:spPr bwMode="auto">
          <a:xfrm>
            <a:off x="8229600" y="1828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15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新 waker 永远认不出旧 waker</a:t>
            </a:r>
            <a:endParaRPr lang="en-US" sz="1550"/>
          </a:p>
        </p:txBody>
      </p:sp>
      <p:sp>
        <p:nvSpPr>
          <p:cNvPr id="838621897" name="Text 22"/>
          <p:cNvSpPr/>
          <p:nvPr/>
        </p:nvSpPr>
        <p:spPr bwMode="auto">
          <a:xfrm>
            <a:off x="8229600" y="25146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PollSet 环形替换 + epoll 从不注销 →「唤醒上一个自己」无限自循环;再加 refresher / 串口 / 网卡三处 1ms 轮询噪音,专挑关键窗口插队。</a:t>
            </a:r>
            <a:endParaRPr lang="en-US" sz="1200"/>
          </a:p>
        </p:txBody>
      </p:sp>
      <p:sp>
        <p:nvSpPr>
          <p:cNvPr id="273438517" name="Text 23"/>
          <p:cNvSpPr/>
          <p:nvPr/>
        </p:nvSpPr>
        <p:spPr bwMode="auto">
          <a:xfrm>
            <a:off x="8229600" y="416051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+56% / +8.8%</a:t>
            </a:r>
            <a:endParaRPr lang="en-US" sz="2100"/>
          </a:p>
        </p:txBody>
      </p:sp>
      <p:sp>
        <p:nvSpPr>
          <p:cNvPr id="376264840" name="Text 24"/>
          <p:cNvSpPr/>
          <p:nvPr/>
        </p:nvSpPr>
        <p:spPr bwMode="auto">
          <a:xfrm>
            <a:off x="822960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epoll 修复 / 三噪齐治</a:t>
            </a:r>
            <a:endParaRPr lang="en-US" sz="1200"/>
          </a:p>
        </p:txBody>
      </p:sp>
      <p:sp>
        <p:nvSpPr>
          <p:cNvPr id="1677731764" name="Shape 25"/>
          <p:cNvSpPr/>
          <p:nvPr/>
        </p:nvSpPr>
        <p:spPr bwMode="auto">
          <a:xfrm>
            <a:off x="8229600" y="5029200"/>
            <a:ext cx="3273552" cy="457200"/>
          </a:xfrm>
          <a:prstGeom prst="roundRect">
            <a:avLst>
              <a:gd name="adj" fmla="val 11000"/>
            </a:avLst>
          </a:prstGeom>
          <a:solidFill>
            <a:srgbClr val="F0FDFA"/>
          </a:solidFill>
          <a:ln/>
        </p:spPr>
      </p:sp>
      <p:sp>
        <p:nvSpPr>
          <p:cNvPr id="1598700584" name="Text 26"/>
          <p:cNvSpPr/>
          <p:nvPr/>
        </p:nvSpPr>
        <p:spPr bwMode="auto">
          <a:xfrm>
            <a:off x="8229600" y="502920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texture 500-520 → 924</a:t>
            </a:r>
            <a:endParaRPr lang="en-US" sz="1200"/>
          </a:p>
        </p:txBody>
      </p:sp>
      <p:sp>
        <p:nvSpPr>
          <p:cNvPr id="585820278" name="Text 27"/>
          <p:cNvSpPr/>
          <p:nvPr/>
        </p:nvSpPr>
        <p:spPr bwMode="auto">
          <a:xfrm>
            <a:off x="457200" y="5852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顺手证伪一个猜想:Linux 并没有 avail_event「抑制魔法」—— 实测 kick:command = 0.33,约每条 submit 一次 kick。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698369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10</a:t>
            </a:r>
            <a:endParaRPr lang="en-US" sz="1200"/>
          </a:p>
        </p:txBody>
      </p:sp>
      <p:sp>
        <p:nvSpPr>
          <p:cNvPr id="171764076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08 · 性能战役</a:t>
            </a:r>
            <a:endParaRPr lang="en-US" sz="1200"/>
          </a:p>
        </p:txBody>
      </p:sp>
      <p:sp>
        <p:nvSpPr>
          <p:cNvPr id="1780968784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差距账本:1100µs vs 190µs = 5.8×</a:t>
            </a:r>
            <a:endParaRPr lang="en-US" sz="2600"/>
          </a:p>
        </p:txBody>
      </p:sp>
      <p:graphicFrame>
        <p:nvGraphicFramePr>
          <p:cNvPr id="164091512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371600"/>
          <a:ext cx="58064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697480"/>
                <a:gridCol w="1051560"/>
                <a:gridCol w="1005840"/>
                <a:gridCol w="1051560"/>
              </a:tblGrid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类目(渲染循环 1.10ms=100%)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Starry µs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Linux µs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Wayland socket 系统调用 ×7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52.9×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7ED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辅助成员轮次(kb/shell/timerfd)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10.9×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提交 ioctl(execb×2+atomic)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259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6.5×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唤醒/调度跳(H1+H3)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235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5.9×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Weston 用户态分派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4.0×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应用/Mesa 用户态编码 = 物理地板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1.1×</a:t>
                      </a:r>
                      <a:endParaRPr lang="en-US" sz="12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804559164" name="Text 3"/>
          <p:cNvSpPr/>
          <p:nvPr/>
        </p:nvSpPr>
        <p:spPr bwMode="auto">
          <a:xfrm>
            <a:off x="457200" y="493776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重要修正:系统里是两条循环 —— 渲染 ~900 次/s,合成仅 88 次/s;以前混成一条「帧」算账,账本整体作废后重测。</a:t>
            </a:r>
            <a:endParaRPr lang="en-US" sz="1200"/>
          </a:p>
        </p:txBody>
      </p:sp>
      <p:graphicFrame>
        <p:nvGraphicFramePr>
          <p:cNvPr id="2132247293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6492240" y="1371600"/>
          <a:ext cx="523951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28315560" name="Text 4"/>
          <p:cNvSpPr/>
          <p:nvPr/>
        </p:nvSpPr>
        <p:spPr bwMode="auto">
          <a:xfrm>
            <a:off x="6492240" y="5074920"/>
            <a:ext cx="5239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各项相对同机 Linux 的倍数(对同二进制三方微基准:S 7.9× / A 24.8× / EAGAIN 60×)</a:t>
            </a:r>
            <a:endParaRPr lang="en-US" sz="1200"/>
          </a:p>
        </p:txBody>
      </p:sp>
      <p:sp>
        <p:nvSpPr>
          <p:cNvPr id="790993400" name="Shape 5"/>
          <p:cNvSpPr/>
          <p:nvPr/>
        </p:nvSpPr>
        <p:spPr bwMode="auto">
          <a:xfrm>
            <a:off x="457200" y="5623560"/>
            <a:ext cx="11274552" cy="713232"/>
          </a:xfrm>
          <a:prstGeom prst="roundRect">
            <a:avLst>
              <a:gd name="adj" fmla="val 7051"/>
            </a:avLst>
          </a:prstGeom>
          <a:solidFill>
            <a:srgbClr val="F0FDFA"/>
          </a:solidFill>
          <a:ln/>
        </p:spPr>
      </p:sp>
      <p:sp>
        <p:nvSpPr>
          <p:cNvPr id="1555951343" name="Text 6"/>
          <p:cNvSpPr/>
          <p:nvPr/>
        </p:nvSpPr>
        <p:spPr bwMode="auto">
          <a:xfrm>
            <a:off x="457200" y="5623560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结论:等待已无浪费,剩余差距全是「单价」—— socket / syscall 入口税是内核级战场,超出 GPU 驱动范围(列入第 16 页边界)。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207931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11</a:t>
            </a:r>
            <a:endParaRPr lang="en-US" sz="1200"/>
          </a:p>
        </p:txBody>
      </p:sp>
      <p:sp>
        <p:nvSpPr>
          <p:cNvPr id="847690868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09 · 战役插曲</a:t>
            </a:r>
            <a:endParaRPr lang="en-US" sz="1200"/>
          </a:p>
        </p:txBody>
      </p:sp>
      <p:sp>
        <p:nvSpPr>
          <p:cNvPr id="1199572840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三次大重构,与一个被底座暴露的地址翻译缺陷</a:t>
            </a:r>
            <a:endParaRPr lang="en-US" sz="2600"/>
          </a:p>
        </p:txBody>
      </p:sp>
      <p:sp>
        <p:nvSpPr>
          <p:cNvPr id="496840462" name="Shape 3"/>
          <p:cNvSpPr/>
          <p:nvPr/>
        </p:nvSpPr>
        <p:spPr bwMode="auto">
          <a:xfrm>
            <a:off x="457200" y="1298448"/>
            <a:ext cx="3694176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1664715523" name="Text 4"/>
          <p:cNvSpPr/>
          <p:nvPr/>
        </p:nvSpPr>
        <p:spPr bwMode="auto">
          <a:xfrm>
            <a:off x="457200" y="1298448"/>
            <a:ext cx="3694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#1775 调度/任务重建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1282 文件 +14.8 万行</a:t>
            </a:r>
            <a:endParaRPr lang="en-US" sz="1200"/>
          </a:p>
        </p:txBody>
      </p:sp>
      <p:sp>
        <p:nvSpPr>
          <p:cNvPr id="871327787" name="Shape 5"/>
          <p:cNvSpPr/>
          <p:nvPr/>
        </p:nvSpPr>
        <p:spPr bwMode="auto">
          <a:xfrm>
            <a:off x="4247388" y="1298448"/>
            <a:ext cx="3694176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73384664" name="Text 6"/>
          <p:cNvSpPr/>
          <p:nvPr/>
        </p:nvSpPr>
        <p:spPr bwMode="auto">
          <a:xfrm>
            <a:off x="4247388" y="1298448"/>
            <a:ext cx="3694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#2363 ax-cpu 集中化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642 文件</a:t>
            </a:r>
            <a:endParaRPr lang="en-US" sz="1200"/>
          </a:p>
        </p:txBody>
      </p:sp>
      <p:sp>
        <p:nvSpPr>
          <p:cNvPr id="1104763977" name="Shape 7"/>
          <p:cNvSpPr/>
          <p:nvPr/>
        </p:nvSpPr>
        <p:spPr bwMode="auto">
          <a:xfrm>
            <a:off x="8037576" y="1298448"/>
            <a:ext cx="3694176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68468495" name="Text 8"/>
          <p:cNvSpPr/>
          <p:nvPr/>
        </p:nvSpPr>
        <p:spPr bwMode="auto">
          <a:xfrm>
            <a:off x="8037576" y="1298448"/>
            <a:ext cx="3694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#2261 starry-mm</a:t>
            </a:r>
            <a:endParaRPr lang="en-US" sz="120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VMA 生命周期重设计</a:t>
            </a:r>
            <a:endParaRPr lang="en-US" sz="1200"/>
          </a:p>
        </p:txBody>
      </p:sp>
      <p:sp>
        <p:nvSpPr>
          <p:cNvPr id="922768660" name="Text 9"/>
          <p:cNvSpPr/>
          <p:nvPr/>
        </p:nvSpPr>
        <p:spPr bwMode="auto">
          <a:xfrm>
            <a:off x="457200" y="22128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rebase 清单:card0 45 项导入逐项对照 / 约 200 处用户内存访问改签名 / 3 个 Pollable 迁移 lease 模型 —— 编译通过后,3D 初始化却失败了。</a:t>
            </a:r>
            <a:endParaRPr lang="en-US" sz="1250"/>
          </a:p>
        </p:txBody>
      </p:sp>
      <p:sp>
        <p:nvSpPr>
          <p:cNvPr id="1995583759" name="Shape 10"/>
          <p:cNvSpPr/>
          <p:nvPr/>
        </p:nvSpPr>
        <p:spPr bwMode="auto">
          <a:xfrm>
            <a:off x="457200" y="2697480"/>
            <a:ext cx="3694176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438057096" name="Text 11"/>
          <p:cNvSpPr/>
          <p:nvPr/>
        </p:nvSpPr>
        <p:spPr bwMode="auto">
          <a:xfrm>
            <a:off x="658368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① 七项「命令语义」假设</a:t>
            </a:r>
            <a:endParaRPr lang="en-US" sz="1350"/>
          </a:p>
        </p:txBody>
      </p:sp>
      <p:sp>
        <p:nvSpPr>
          <p:cNvPr id="1691223242" name="Text 12"/>
          <p:cNvSpPr/>
          <p:nvPr/>
        </p:nvSpPr>
        <p:spPr bwMode="auto">
          <a:xfrm>
            <a:off x="658368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payload、特性协商、IRQ……逐项证伪 —— 命令完全合法,宿主也收到了</a:t>
            </a:r>
            <a:endParaRPr lang="en-US" sz="1200"/>
          </a:p>
        </p:txBody>
      </p:sp>
      <p:sp>
        <p:nvSpPr>
          <p:cNvPr id="1446196555" name="Shape 13"/>
          <p:cNvSpPr/>
          <p:nvPr/>
        </p:nvSpPr>
        <p:spPr bwMode="auto">
          <a:xfrm>
            <a:off x="4242816" y="2697480"/>
            <a:ext cx="3694176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225681860" name="Text 14"/>
          <p:cNvSpPr/>
          <p:nvPr/>
        </p:nvSpPr>
        <p:spPr bwMode="auto">
          <a:xfrm>
            <a:off x="4443984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② qt-calc 纯 upstream 对照</a:t>
            </a:r>
            <a:endParaRPr lang="en-US" sz="1350"/>
          </a:p>
        </p:txBody>
      </p:sp>
      <p:sp>
        <p:nvSpPr>
          <p:cNvPr id="1327735190" name="Text 15"/>
          <p:cNvSpPr/>
          <p:nvPr/>
        </p:nvSpPr>
        <p:spPr bwMode="auto">
          <a:xfrm>
            <a:off x="4443984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不经过我任何代码的实验 PASSED → 锁定差异点:fork 零拷贝把调用者栈借给设备 DMA</a:t>
            </a:r>
            <a:endParaRPr lang="en-US" sz="1200"/>
          </a:p>
        </p:txBody>
      </p:sp>
      <p:sp>
        <p:nvSpPr>
          <p:cNvPr id="1202440682" name="Shape 16"/>
          <p:cNvSpPr/>
          <p:nvPr/>
        </p:nvSpPr>
        <p:spPr bwMode="auto">
          <a:xfrm>
            <a:off x="8028432" y="2697480"/>
            <a:ext cx="3694176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929045696" name="Text 17"/>
          <p:cNvSpPr/>
          <p:nvPr/>
        </p:nvSpPr>
        <p:spPr bwMode="auto">
          <a:xfrm>
            <a:off x="822960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③ QEMU HMP xp 宿主取证</a:t>
            </a:r>
            <a:endParaRPr lang="en-US" sz="1350"/>
          </a:p>
        </p:txBody>
      </p:sp>
      <p:sp>
        <p:nvSpPr>
          <p:cNvPr id="1065430551" name="Text 18"/>
          <p:cNvSpPr/>
          <p:nvPr/>
        </p:nvSpPr>
        <p:spPr bwMode="auto">
          <a:xfrm>
            <a:off x="822960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宿主视角直读公式算出的物理地址 —— 看到的是用户代码页的字节,实锤错译</a:t>
            </a:r>
            <a:endParaRPr lang="en-US" sz="1200"/>
          </a:p>
        </p:txBody>
      </p:sp>
      <p:sp>
        <p:nvSpPr>
          <p:cNvPr id="917010795" name="Shape 19"/>
          <p:cNvSpPr/>
          <p:nvPr/>
        </p:nvSpPr>
        <p:spPr bwMode="auto">
          <a:xfrm>
            <a:off x="457200" y="4297680"/>
            <a:ext cx="11274552" cy="914400"/>
          </a:xfrm>
          <a:prstGeom prst="roundRect">
            <a:avLst>
              <a:gd name="adj" fmla="val 5500"/>
            </a:avLst>
          </a:prstGeom>
          <a:solidFill>
            <a:srgbClr val="0F172A"/>
          </a:solidFill>
          <a:ln/>
        </p:spPr>
      </p:sp>
      <p:sp>
        <p:nvSpPr>
          <p:cNvPr id="279108843" name="Text 20"/>
          <p:cNvSpPr/>
          <p:nvPr/>
        </p:nvSpPr>
        <p:spPr bwMode="auto">
          <a:xfrm>
            <a:off x="731520" y="4297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35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&gt; 公式算出的 paddr,读到的是用户代码页的字节 —— vmap 任务栈不在线性映射窗口,线性偏移公式错译,且无任何报错。</a:t>
            </a:r>
            <a:endParaRPr lang="en-US" sz="1350"/>
          </a:p>
        </p:txBody>
      </p:sp>
      <p:sp>
        <p:nvSpPr>
          <p:cNvPr id="1182276524" name="Shape 21"/>
          <p:cNvSpPr/>
          <p:nvPr/>
        </p:nvSpPr>
        <p:spPr bwMode="auto">
          <a:xfrm>
            <a:off x="457200" y="5440680"/>
            <a:ext cx="11274552" cy="868680"/>
          </a:xfrm>
          <a:prstGeom prst="roundRect">
            <a:avLst>
              <a:gd name="adj" fmla="val 5789"/>
            </a:avLst>
          </a:prstGeom>
          <a:solidFill>
            <a:srgbClr val="F0FDFA"/>
          </a:solidFill>
          <a:ln/>
        </p:spPr>
      </p:sp>
      <p:sp>
        <p:nvSpPr>
          <p:cNvPr id="1602256400" name="Text 22"/>
          <p:cNvSpPr/>
          <p:nvPr/>
        </p:nvSpPr>
        <p:spPr bwMode="auto">
          <a:xfrm>
            <a:off x="731520" y="5440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终态(经 #2506 重构演化):热路径命令全拷入驱动自有、地址稳定的 DMA arena —— 结构上无借用;零拷贝仅剩 request_sync,契约写入注释:必须传分配器内存,绝不能是任意栈帧。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985360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12</a:t>
            </a:r>
            <a:endParaRPr lang="en-US" sz="1200"/>
          </a:p>
        </p:txBody>
      </p:sp>
      <p:sp>
        <p:nvSpPr>
          <p:cNvPr id="1771483671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10 · 最大单项</a:t>
            </a:r>
            <a:endParaRPr lang="en-US" sz="1200"/>
          </a:p>
        </p:txBody>
      </p:sp>
      <p:sp>
        <p:nvSpPr>
          <p:cNvPr id="1524479690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fence 延迟:39µs vs 1598µs = 41×</a:t>
            </a:r>
            <a:endParaRPr lang="en-US" sz="2600"/>
          </a:p>
        </p:txBody>
      </p:sp>
      <p:sp>
        <p:nvSpPr>
          <p:cNvPr id="356035764" name="Text 3"/>
          <p:cNvSpPr/>
          <p:nvPr/>
        </p:nvSpPr>
        <p:spPr bwMode="auto">
          <a:xfrm>
            <a:off x="457200" y="14173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92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41×</a:t>
            </a:r>
            <a:endParaRPr lang="en-US" sz="9200"/>
          </a:p>
        </p:txBody>
      </p:sp>
      <p:sp>
        <p:nvSpPr>
          <p:cNvPr id="1501668537" name="Text 4"/>
          <p:cNvSpPr/>
          <p:nvPr/>
        </p:nvSpPr>
        <p:spPr bwMode="auto">
          <a:xfrm>
            <a:off x="54864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fence 创建 → signal 的墙钟</a:t>
            </a:r>
            <a:endParaRPr lang="en-US" sz="1400"/>
          </a:p>
        </p:txBody>
      </p:sp>
      <p:sp>
        <p:nvSpPr>
          <p:cNvPr id="1673113536" name="Shape 5"/>
          <p:cNvSpPr/>
          <p:nvPr/>
        </p:nvSpPr>
        <p:spPr bwMode="auto">
          <a:xfrm>
            <a:off x="4846320" y="1463040"/>
            <a:ext cx="324612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947395453" name="Text 6"/>
          <p:cNvSpPr/>
          <p:nvPr/>
        </p:nvSpPr>
        <p:spPr bwMode="auto">
          <a:xfrm>
            <a:off x="5074920" y="1627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39µs</a:t>
            </a:r>
            <a:endParaRPr lang="en-US" sz="3000"/>
          </a:p>
        </p:txBody>
      </p:sp>
      <p:sp>
        <p:nvSpPr>
          <p:cNvPr id="1566637180" name="Text 7"/>
          <p:cNvSpPr/>
          <p:nvPr/>
        </p:nvSpPr>
        <p:spPr bwMode="auto">
          <a:xfrm>
            <a:off x="5074920" y="22128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Linux VM(p50 14µs)</a:t>
            </a:r>
            <a:endParaRPr lang="en-US" sz="1200"/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中断即时路径</a:t>
            </a:r>
            <a:endParaRPr lang="en-US" sz="1200"/>
          </a:p>
        </p:txBody>
      </p:sp>
      <p:sp>
        <p:nvSpPr>
          <p:cNvPr id="838302832" name="Shape 8"/>
          <p:cNvSpPr/>
          <p:nvPr/>
        </p:nvSpPr>
        <p:spPr bwMode="auto">
          <a:xfrm>
            <a:off x="8366760" y="1463040"/>
            <a:ext cx="3364992" cy="1371600"/>
          </a:xfrm>
          <a:prstGeom prst="roundRect">
            <a:avLst>
              <a:gd name="adj" fmla="val 3667"/>
            </a:avLst>
          </a:prstGeom>
          <a:solidFill>
            <a:srgbClr val="FFF7ED"/>
          </a:solidFill>
          <a:ln/>
        </p:spPr>
      </p:sp>
      <p:sp>
        <p:nvSpPr>
          <p:cNvPr id="2006410318" name="Text 9"/>
          <p:cNvSpPr/>
          <p:nvPr/>
        </p:nvSpPr>
        <p:spPr bwMode="auto">
          <a:xfrm>
            <a:off x="8595360" y="16276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1598µs</a:t>
            </a:r>
            <a:endParaRPr lang="en-US" sz="3000"/>
          </a:p>
        </p:txBody>
      </p:sp>
      <p:sp>
        <p:nvSpPr>
          <p:cNvPr id="478087807" name="Text 10"/>
          <p:cNvSpPr/>
          <p:nvPr/>
        </p:nvSpPr>
        <p:spPr bwMode="auto">
          <a:xfrm>
            <a:off x="8595360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StarryOS(改造前)</a:t>
            </a:r>
            <a:endParaRPr lang="en-US" sz="1200"/>
          </a:p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满载均值</a:t>
            </a:r>
            <a:endParaRPr lang="en-US" sz="1200"/>
          </a:p>
        </p:txBody>
      </p:sp>
      <p:sp>
        <p:nvSpPr>
          <p:cNvPr id="1086523112" name="Text 11"/>
          <p:cNvSpPr/>
          <p:nvPr/>
        </p:nvSpPr>
        <p:spPr bwMode="auto">
          <a:xfrm>
            <a:off x="45720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根因链(代码里就能看到):</a:t>
            </a:r>
            <a:endParaRPr lang="en-US" sz="1350"/>
          </a:p>
        </p:txBody>
      </p:sp>
      <p:sp>
        <p:nvSpPr>
          <p:cNvPr id="925928615" name="Shape 12"/>
          <p:cNvSpPr/>
          <p:nvPr/>
        </p:nvSpPr>
        <p:spPr bwMode="auto">
          <a:xfrm>
            <a:off x="457200" y="3977640"/>
            <a:ext cx="3566160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387411721" name="Text 13"/>
          <p:cNvSpPr/>
          <p:nvPr/>
        </p:nvSpPr>
        <p:spPr bwMode="auto">
          <a:xfrm>
            <a:off x="457200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fence 完成靠 1ms</a:t>
            </a:r>
            <a:endParaRPr lang="en-US" sz="125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轮询 tick 兜底</a:t>
            </a:r>
            <a:endParaRPr lang="en-US" sz="1250"/>
          </a:p>
        </p:txBody>
      </p:sp>
      <p:sp>
        <p:nvSpPr>
          <p:cNvPr id="1845562473" name="Shape 14"/>
          <p:cNvSpPr/>
          <p:nvPr/>
        </p:nvSpPr>
        <p:spPr bwMode="auto">
          <a:xfrm>
            <a:off x="4041648" y="4361688"/>
            <a:ext cx="256032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778779693" name="Shape 15"/>
          <p:cNvSpPr/>
          <p:nvPr/>
        </p:nvSpPr>
        <p:spPr bwMode="auto">
          <a:xfrm>
            <a:off x="4315968" y="3977640"/>
            <a:ext cx="3566160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1258520879" name="Text 16"/>
          <p:cNvSpPr/>
          <p:nvPr/>
        </p:nvSpPr>
        <p:spPr bwMode="auto">
          <a:xfrm>
            <a:off x="4315968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满载下 tick 被调度</a:t>
            </a:r>
            <a:endParaRPr lang="en-US" sz="125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拖到平均 1.6ms</a:t>
            </a:r>
            <a:endParaRPr lang="en-US" sz="1250"/>
          </a:p>
        </p:txBody>
      </p:sp>
      <p:sp>
        <p:nvSpPr>
          <p:cNvPr id="1876500015" name="Shape 17"/>
          <p:cNvSpPr/>
          <p:nvPr/>
        </p:nvSpPr>
        <p:spPr bwMode="auto">
          <a:xfrm>
            <a:off x="7900416" y="4361688"/>
            <a:ext cx="256032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392507509" name="Shape 18"/>
          <p:cNvSpPr/>
          <p:nvPr/>
        </p:nvSpPr>
        <p:spPr bwMode="auto">
          <a:xfrm>
            <a:off x="8174736" y="3977640"/>
            <a:ext cx="3566160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255886469" name="Text 19"/>
          <p:cNvSpPr/>
          <p:nvPr/>
        </p:nvSpPr>
        <p:spPr bwMode="auto">
          <a:xfrm>
            <a:off x="8174736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延迟分布以 1ms 为中心</a:t>
            </a:r>
            <a:endParaRPr lang="en-US" sz="1250"/>
          </a:p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散开 —— 精确吻合</a:t>
            </a:r>
            <a:endParaRPr lang="en-US" sz="1250"/>
          </a:p>
        </p:txBody>
      </p:sp>
      <p:sp>
        <p:nvSpPr>
          <p:cNvPr id="1149821541" name="Shape 20"/>
          <p:cNvSpPr/>
          <p:nvPr/>
        </p:nvSpPr>
        <p:spPr bwMode="auto">
          <a:xfrm>
            <a:off x="457200" y="5029200"/>
            <a:ext cx="11274552" cy="960120"/>
          </a:xfrm>
          <a:prstGeom prst="roundRect">
            <a:avLst>
              <a:gd name="adj" fmla="val 5238"/>
            </a:avLst>
          </a:prstGeom>
          <a:solidFill>
            <a:srgbClr val="F0FDFA"/>
          </a:solidFill>
          <a:ln/>
        </p:spPr>
      </p:sp>
      <p:sp>
        <p:nvSpPr>
          <p:cNvPr id="1169112757" name="Text 21"/>
          <p:cNvSpPr/>
          <p:nvPr/>
        </p:nvSpPr>
        <p:spPr bwMode="auto">
          <a:xfrm>
            <a:off x="731520" y="51389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完成事件化(先行验证:</a:t>
            </a:r>
            <a:endParaRPr lang="en-US" sz="130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实时线程即时 signal)</a:t>
            </a:r>
            <a:endParaRPr lang="en-US" sz="1300"/>
          </a:p>
        </p:txBody>
      </p:sp>
      <p:sp>
        <p:nvSpPr>
          <p:cNvPr id="1100122274" name="Text 22"/>
          <p:cNvSpPr/>
          <p:nvPr/>
        </p:nvSpPr>
        <p:spPr bwMode="auto">
          <a:xfrm>
            <a:off x="585216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+71~81%</a:t>
            </a:r>
            <a:endParaRPr lang="en-US" sz="2600"/>
          </a:p>
        </p:txBody>
      </p:sp>
      <p:sp>
        <p:nvSpPr>
          <p:cNvPr id="462540802" name="Text 23"/>
          <p:cNvSpPr/>
          <p:nvPr/>
        </p:nvSpPr>
        <p:spPr bwMode="auto">
          <a:xfrm>
            <a:off x="8778240" y="5138928"/>
            <a:ext cx="30175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texture 1423→2461 · shading 2495</a:t>
            </a:r>
            <a:endParaRPr lang="en-US" sz="1250"/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总分进 2400 档 · 帧时间 0.70→0.41ms</a:t>
            </a:r>
            <a:endParaRPr lang="en-US" sz="1250"/>
          </a:p>
        </p:txBody>
      </p:sp>
      <p:sp>
        <p:nvSpPr>
          <p:cNvPr id="1965345963" name="Text 24"/>
          <p:cNvSpPr/>
          <p:nvPr/>
        </p:nvSpPr>
        <p:spPr bwMode="auto"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轮询与自旋都被控制变量实验证明是错误的兜底姿势 —— 完成通知必须走中断(事件化)。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690471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13</a:t>
            </a:r>
            <a:endParaRPr lang="en-US" sz="1200"/>
          </a:p>
        </p:txBody>
      </p:sp>
      <p:sp>
        <p:nvSpPr>
          <p:cNvPr id="1364568943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11 · 阶段三(第 10~12 周)</a:t>
            </a:r>
            <a:endParaRPr lang="en-US" sz="1200"/>
          </a:p>
        </p:txBody>
      </p:sp>
      <p:sp>
        <p:nvSpPr>
          <p:cNvPr id="507499613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工程化落地:从实验版到合入主线</a:t>
            </a:r>
            <a:endParaRPr lang="en-US" sz="2600"/>
          </a:p>
        </p:txBody>
      </p:sp>
      <p:sp>
        <p:nvSpPr>
          <p:cNvPr id="234953810" name="Shape 3"/>
          <p:cNvSpPr/>
          <p:nvPr/>
        </p:nvSpPr>
        <p:spPr bwMode="auto">
          <a:xfrm>
            <a:off x="457200" y="1325880"/>
            <a:ext cx="3694176" cy="457200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689219488" name="Text 4"/>
          <p:cNvSpPr/>
          <p:nvPr/>
        </p:nvSpPr>
        <p:spPr bwMode="auto">
          <a:xfrm>
            <a:off x="685800" y="14813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01</a:t>
            </a:r>
            <a:endParaRPr lang="en-US" sz="3000"/>
          </a:p>
        </p:txBody>
      </p:sp>
      <p:sp>
        <p:nvSpPr>
          <p:cNvPr id="672145201" name="Text 5"/>
          <p:cNvSpPr/>
          <p:nvPr/>
        </p:nvSpPr>
        <p:spPr bwMode="auto">
          <a:xfrm>
            <a:off x="68580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异步控制队列工程化</a:t>
            </a:r>
            <a:endParaRPr lang="en-US" sz="1600"/>
          </a:p>
        </p:txBody>
      </p:sp>
      <p:sp>
        <p:nvSpPr>
          <p:cNvPr id="1547454904" name="Text 6"/>
          <p:cNvSpPr/>
          <p:nvPr/>
        </p:nvSpPr>
        <p:spPr bwMode="auto">
          <a:xfrm>
            <a:off x="685800" y="251460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kick:阈值判定 + 事件去重的折中(饿死 vs 8% 损失)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混合流量:同步 request_sync 与异步同队列共存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DMA 字节住进固定 arena —— 地址漂移类 bug 结构上不可能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3 个活性缺陷(死锁/只等不推/文档陷阱)各有回归测试</a:t>
            </a:r>
            <a:endParaRPr lang="en-US" sz="1150"/>
          </a:p>
        </p:txBody>
      </p:sp>
      <p:sp>
        <p:nvSpPr>
          <p:cNvPr id="225936602" name="Text 7"/>
          <p:cNvSpPr/>
          <p:nvPr/>
        </p:nvSpPr>
        <p:spPr bwMode="auto">
          <a:xfrm>
            <a:off x="685800" y="4572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+24.6%</a:t>
            </a:r>
            <a:endParaRPr lang="en-US" sz="2400"/>
          </a:p>
        </p:txBody>
      </p:sp>
      <p:sp>
        <p:nvSpPr>
          <p:cNvPr id="1245329826" name="Shape 8"/>
          <p:cNvSpPr/>
          <p:nvPr/>
        </p:nvSpPr>
        <p:spPr bwMode="auto">
          <a:xfrm>
            <a:off x="685800" y="5120640"/>
            <a:ext cx="3236976" cy="50292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/>
        </p:spPr>
      </p:sp>
      <p:sp>
        <p:nvSpPr>
          <p:cNvPr id="555797577" name="Text 9"/>
          <p:cNvSpPr/>
          <p:nvPr/>
        </p:nvSpPr>
        <p:spPr bwMode="auto">
          <a:xfrm>
            <a:off x="685800" y="512064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33 场景 A/B · PR #265</a:t>
            </a:r>
            <a:endParaRPr lang="en-US" sz="1200"/>
          </a:p>
        </p:txBody>
      </p:sp>
      <p:sp>
        <p:nvSpPr>
          <p:cNvPr id="450596484" name="Shape 10"/>
          <p:cNvSpPr/>
          <p:nvPr/>
        </p:nvSpPr>
        <p:spPr bwMode="auto">
          <a:xfrm>
            <a:off x="4242816" y="1325880"/>
            <a:ext cx="3694176" cy="457200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352505320" name="Text 11"/>
          <p:cNvSpPr/>
          <p:nvPr/>
        </p:nvSpPr>
        <p:spPr bwMode="auto">
          <a:xfrm>
            <a:off x="4471416" y="14813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02</a:t>
            </a:r>
            <a:endParaRPr lang="en-US" sz="3000"/>
          </a:p>
        </p:txBody>
      </p:sp>
      <p:sp>
        <p:nvSpPr>
          <p:cNvPr id="1526637232" name="Text 12"/>
          <p:cNvSpPr/>
          <p:nvPr/>
        </p:nvSpPr>
        <p:spPr bwMode="auto">
          <a:xfrm>
            <a:off x="4471416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合入主线</a:t>
            </a:r>
            <a:endParaRPr lang="en-US" sz="1600"/>
          </a:p>
        </p:txBody>
      </p:sp>
      <p:sp>
        <p:nvSpPr>
          <p:cNvPr id="1761050450" name="Text 13"/>
          <p:cNvSpPr/>
          <p:nvPr/>
        </p:nvSpPr>
        <p:spPr bwMode="auto">
          <a:xfrm>
            <a:off x="4471416" y="251460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#2483(09-22):语义正确的同步版先行进入 dev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#2506 新栈重构后,异步语义作为增量逐层重放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错误链全程对齐 Linux errno:TimedOut→ETIMEDOUT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refract 等场景级失败随新栈恢复(1433 FPS)</a:t>
            </a:r>
            <a:endParaRPr lang="en-US" sz="1150"/>
          </a:p>
        </p:txBody>
      </p:sp>
      <p:sp>
        <p:nvSpPr>
          <p:cNvPr id="1668586972" name="Text 14"/>
          <p:cNvSpPr/>
          <p:nvPr/>
        </p:nvSpPr>
        <p:spPr bwMode="auto">
          <a:xfrm>
            <a:off x="4471416" y="4572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3040 分</a:t>
            </a:r>
            <a:endParaRPr lang="en-US" sz="2400"/>
          </a:p>
        </p:txBody>
      </p:sp>
      <p:sp>
        <p:nvSpPr>
          <p:cNvPr id="1252633258" name="Shape 15"/>
          <p:cNvSpPr/>
          <p:nvPr/>
        </p:nvSpPr>
        <p:spPr bwMode="auto">
          <a:xfrm>
            <a:off x="4471416" y="5120640"/>
            <a:ext cx="3236976" cy="50292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/>
        </p:spPr>
      </p:sp>
      <p:sp>
        <p:nvSpPr>
          <p:cNvPr id="2069396599" name="Text 16"/>
          <p:cNvSpPr/>
          <p:nvPr/>
        </p:nvSpPr>
        <p:spPr bwMode="auto">
          <a:xfrm>
            <a:off x="4471416" y="512064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33 场景完整 · +36~75% · #2536 合入</a:t>
            </a:r>
            <a:endParaRPr lang="en-US" sz="1200"/>
          </a:p>
        </p:txBody>
      </p:sp>
      <p:sp>
        <p:nvSpPr>
          <p:cNvPr id="1792709858" name="Shape 17"/>
          <p:cNvSpPr/>
          <p:nvPr/>
        </p:nvSpPr>
        <p:spPr bwMode="auto">
          <a:xfrm>
            <a:off x="8028432" y="1325880"/>
            <a:ext cx="3694176" cy="457200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393732287" name="Text 18"/>
          <p:cNvSpPr/>
          <p:nvPr/>
        </p:nvSpPr>
        <p:spPr bwMode="auto">
          <a:xfrm>
            <a:off x="8257032" y="14813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03</a:t>
            </a:r>
            <a:endParaRPr lang="en-US" sz="3000"/>
          </a:p>
        </p:txBody>
      </p:sp>
      <p:sp>
        <p:nvSpPr>
          <p:cNvPr id="1280091605" name="Text 19"/>
          <p:cNvSpPr/>
          <p:nvPr/>
        </p:nvSpPr>
        <p:spPr bwMode="auto">
          <a:xfrm>
            <a:off x="8257032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环绕丢 kick 修复</a:t>
            </a:r>
            <a:endParaRPr lang="en-US" sz="1600"/>
          </a:p>
        </p:txBody>
      </p:sp>
      <p:sp>
        <p:nvSpPr>
          <p:cNvPr id="1104399333" name="Text 20"/>
          <p:cNvSpPr/>
          <p:nvPr/>
        </p:nvSpPr>
        <p:spPr bwMode="auto">
          <a:xfrm>
            <a:off x="8257032" y="251460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should_notify 用 u16 ≥ 判 RING_EVENT_IDX,无环绕语义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跨 65536 后恒假 → 宿主收不到通知,队列耗尽、显示冻结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QMP 取证:last-avail-idx = used-idx = 65534 冻结</a:t>
            </a:r>
            <a:endParaRPr lang="en-US" sz="1150"/>
          </a:p>
          <a:p>
            <a:pPr marL="127000" indent="-127000" algn="l">
              <a:lnSpc>
                <a:spcPct val="114999"/>
              </a:lnSpc>
              <a:spcAft>
                <a:spcPts val="600"/>
              </a:spcAft>
              <a:buSzPct val="100000"/>
              <a:buChar char="–"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修复:边界 kick 恒发 MMIO(多余 kick 对规格恒安全)</a:t>
            </a:r>
            <a:endParaRPr lang="en-US" sz="1150"/>
          </a:p>
        </p:txBody>
      </p:sp>
      <p:sp>
        <p:nvSpPr>
          <p:cNvPr id="1475611732" name="Text 21"/>
          <p:cNvSpPr/>
          <p:nvPr/>
        </p:nvSpPr>
        <p:spPr bwMode="auto">
          <a:xfrm>
            <a:off x="8257032" y="4572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+57%</a:t>
            </a:r>
            <a:endParaRPr lang="en-US" sz="2400"/>
          </a:p>
        </p:txBody>
      </p:sp>
      <p:sp>
        <p:nvSpPr>
          <p:cNvPr id="998939170" name="Shape 22"/>
          <p:cNvSpPr/>
          <p:nvPr/>
        </p:nvSpPr>
        <p:spPr bwMode="auto">
          <a:xfrm>
            <a:off x="8257032" y="5120640"/>
            <a:ext cx="3236976" cy="50292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/>
        </p:spPr>
      </p:sp>
      <p:sp>
        <p:nvSpPr>
          <p:cNvPr id="806143641" name="Text 23"/>
          <p:cNvSpPr/>
          <p:nvPr/>
        </p:nvSpPr>
        <p:spPr bwMode="auto">
          <a:xfrm>
            <a:off x="8257032" y="512064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同机 A/B texture 1865→2933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910938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14</a:t>
            </a:r>
            <a:endParaRPr lang="en-US" sz="1200"/>
          </a:p>
        </p:txBody>
      </p:sp>
      <p:sp>
        <p:nvSpPr>
          <p:cNvPr id="790201761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12 · 结构改造</a:t>
            </a:r>
            <a:endParaRPr lang="en-US" sz="1200"/>
          </a:p>
        </p:txBody>
      </p:sp>
      <p:sp>
        <p:nvSpPr>
          <p:cNvPr id="1243791645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把等待移出设备锁:对齐 Linux 的结构事实</a:t>
            </a:r>
            <a:endParaRPr lang="en-US" sz="2600"/>
          </a:p>
        </p:txBody>
      </p:sp>
      <p:sp>
        <p:nvSpPr>
          <p:cNvPr id="1886416338" name="Shape 3"/>
          <p:cNvSpPr/>
          <p:nvPr/>
        </p:nvSpPr>
        <p:spPr bwMode="auto">
          <a:xfrm>
            <a:off x="457200" y="1298448"/>
            <a:ext cx="5440680" cy="2743200"/>
          </a:xfrm>
          <a:prstGeom prst="roundRect">
            <a:avLst>
              <a:gd name="adj" fmla="val 18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1723043" name="Text 4"/>
          <p:cNvSpPr/>
          <p:nvPr/>
        </p:nvSpPr>
        <p:spPr bwMode="auto">
          <a:xfrm>
            <a:off x="640080" y="1408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5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改造前:等待者与完成泵互锁</a:t>
            </a:r>
            <a:endParaRPr lang="en-US" sz="1350"/>
          </a:p>
        </p:txBody>
      </p:sp>
      <p:sp>
        <p:nvSpPr>
          <p:cNvPr id="2009608514" name="Shape 5"/>
          <p:cNvSpPr/>
          <p:nvPr/>
        </p:nvSpPr>
        <p:spPr bwMode="auto">
          <a:xfrm>
            <a:off x="685800" y="1783080"/>
            <a:ext cx="3017519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23643742" name="Text 6"/>
          <p:cNvSpPr/>
          <p:nvPr/>
        </p:nvSpPr>
        <p:spPr bwMode="auto">
          <a:xfrm>
            <a:off x="685800" y="1783080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等待者:WAIT / UNREF / 回读</a:t>
            </a:r>
            <a:endParaRPr lang="en-US" sz="1150"/>
          </a:p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持锁自旋</a:t>
            </a:r>
            <a:endParaRPr lang="en-US" sz="1150"/>
          </a:p>
        </p:txBody>
      </p:sp>
      <p:sp>
        <p:nvSpPr>
          <p:cNvPr id="728026187" name="Shape 7"/>
          <p:cNvSpPr/>
          <p:nvPr/>
        </p:nvSpPr>
        <p:spPr bwMode="auto">
          <a:xfrm>
            <a:off x="3291840" y="2395728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300375484" name="Text 8"/>
          <p:cNvSpPr/>
          <p:nvPr/>
        </p:nvSpPr>
        <p:spPr bwMode="auto">
          <a:xfrm>
            <a:off x="3291840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MAIN_GPU 全局锁</a:t>
            </a:r>
            <a:endParaRPr lang="en-US" sz="1250"/>
          </a:p>
        </p:txBody>
      </p:sp>
      <p:sp>
        <p:nvSpPr>
          <p:cNvPr id="523877268" name="Shape 9"/>
          <p:cNvSpPr/>
          <p:nvPr/>
        </p:nvSpPr>
        <p:spPr bwMode="auto">
          <a:xfrm>
            <a:off x="685800" y="3017519"/>
            <a:ext cx="3017519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84154180" name="Text 10"/>
          <p:cNvSpPr/>
          <p:nvPr/>
        </p:nvSpPr>
        <p:spPr bwMode="auto">
          <a:xfrm>
            <a:off x="685800" y="3017519"/>
            <a:ext cx="30175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完成泵:推进水位</a:t>
            </a:r>
            <a:endParaRPr lang="en-US" sz="1150"/>
          </a:p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5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(需要同一把锁)</a:t>
            </a:r>
            <a:endParaRPr lang="en-US" sz="1150"/>
          </a:p>
        </p:txBody>
      </p:sp>
      <p:sp>
        <p:nvSpPr>
          <p:cNvPr id="1245772161" name="Shape 11"/>
          <p:cNvSpPr/>
          <p:nvPr/>
        </p:nvSpPr>
        <p:spPr bwMode="auto">
          <a:xfrm>
            <a:off x="3255264" y="2057400"/>
            <a:ext cx="173736" cy="32004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021377081" name="Text 12"/>
          <p:cNvSpPr/>
          <p:nvPr/>
        </p:nvSpPr>
        <p:spPr bwMode="auto">
          <a:xfrm>
            <a:off x="3794760" y="2011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持有</a:t>
            </a:r>
            <a:endParaRPr lang="en-US" sz="1150"/>
          </a:p>
        </p:txBody>
      </p:sp>
      <p:sp>
        <p:nvSpPr>
          <p:cNvPr id="272429407" name="Shape 13"/>
          <p:cNvSpPr/>
          <p:nvPr/>
        </p:nvSpPr>
        <p:spPr bwMode="auto">
          <a:xfrm>
            <a:off x="3255264" y="3246120"/>
            <a:ext cx="265176" cy="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711679651" name="Text 14"/>
          <p:cNvSpPr/>
          <p:nvPr/>
        </p:nvSpPr>
        <p:spPr bwMode="auto">
          <a:xfrm>
            <a:off x="361188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15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抢不到 ✗</a:t>
            </a:r>
            <a:endParaRPr lang="en-US" sz="1150"/>
          </a:p>
        </p:txBody>
      </p:sp>
      <p:sp>
        <p:nvSpPr>
          <p:cNvPr id="1492664593" name="Text 15"/>
          <p:cNvSpPr/>
          <p:nvPr/>
        </p:nvSpPr>
        <p:spPr bwMode="auto">
          <a:xfrm>
            <a:off x="685800" y="3639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等待越长 → 泵越停 → 等待更长(三次冻结的共同根源)</a:t>
            </a:r>
            <a:endParaRPr lang="en-US" sz="1200"/>
          </a:p>
        </p:txBody>
      </p:sp>
      <p:sp>
        <p:nvSpPr>
          <p:cNvPr id="200800769" name="Shape 16"/>
          <p:cNvSpPr/>
          <p:nvPr/>
        </p:nvSpPr>
        <p:spPr bwMode="auto">
          <a:xfrm>
            <a:off x="6309360" y="1298448"/>
            <a:ext cx="5422392" cy="2743200"/>
          </a:xfrm>
          <a:prstGeom prst="roundRect">
            <a:avLst>
              <a:gd name="adj" fmla="val 1833"/>
            </a:avLst>
          </a:prstGeom>
          <a:solidFill>
            <a:srgbClr val="F0FDFA"/>
          </a:solidFill>
          <a:ln/>
        </p:spPr>
      </p:sp>
      <p:sp>
        <p:nvSpPr>
          <p:cNvPr id="1021781249" name="Text 17"/>
          <p:cNvSpPr/>
          <p:nvPr/>
        </p:nvSpPr>
        <p:spPr bwMode="auto">
          <a:xfrm>
            <a:off x="6492240" y="1408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改造后:资源交集为空(Linux 同款结构)</a:t>
            </a:r>
            <a:endParaRPr lang="en-US" sz="1350"/>
          </a:p>
        </p:txBody>
      </p:sp>
      <p:sp>
        <p:nvSpPr>
          <p:cNvPr id="2012363663" name="Shape 18"/>
          <p:cNvSpPr/>
          <p:nvPr/>
        </p:nvSpPr>
        <p:spPr bwMode="auto">
          <a:xfrm>
            <a:off x="6537960" y="1783080"/>
            <a:ext cx="493776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/>
        </p:spPr>
      </p:sp>
      <p:sp>
        <p:nvSpPr>
          <p:cNvPr id="1798094351" name="Text 19"/>
          <p:cNvSpPr/>
          <p:nvPr/>
        </p:nvSpPr>
        <p:spPr bwMode="auto">
          <a:xfrm>
            <a:off x="6537960" y="17830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等待者 wait_gpu_condition:锁间探测(≤32768 轮)+ 锁外睡眠</a:t>
            </a:r>
            <a:endParaRPr lang="en-US" sz="1200"/>
          </a:p>
        </p:txBody>
      </p:sp>
      <p:sp>
        <p:nvSpPr>
          <p:cNvPr id="1056695764" name="Shape 20"/>
          <p:cNvSpPr/>
          <p:nvPr/>
        </p:nvSpPr>
        <p:spPr bwMode="auto">
          <a:xfrm>
            <a:off x="6537960" y="2788920"/>
            <a:ext cx="493776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/>
        </p:spPr>
      </p:sp>
      <p:sp>
        <p:nvSpPr>
          <p:cNvPr id="1184134981" name="Text 21"/>
          <p:cNvSpPr/>
          <p:nvPr/>
        </p:nvSpPr>
        <p:spPr bwMode="auto">
          <a:xfrm>
            <a:off x="6537960" y="27889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完成泵 / IRQ worker:推进水位 + set_completion_notifier 唤醒</a:t>
            </a:r>
            <a:endParaRPr lang="en-US" sz="1200"/>
          </a:p>
        </p:txBody>
      </p:sp>
      <p:sp>
        <p:nvSpPr>
          <p:cNvPr id="2068369027" name="Shape 22"/>
          <p:cNvSpPr/>
          <p:nvPr/>
        </p:nvSpPr>
        <p:spPr bwMode="auto">
          <a:xfrm>
            <a:off x="7680960" y="2468880"/>
            <a:ext cx="0" cy="292608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9387426" name="Text 23"/>
          <p:cNvSpPr/>
          <p:nvPr/>
        </p:nvSpPr>
        <p:spPr bwMode="auto">
          <a:xfrm>
            <a:off x="7818120" y="2450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探测:拿锁→泵→查→放锁</a:t>
            </a:r>
            <a:endParaRPr lang="en-US" sz="1150"/>
          </a:p>
        </p:txBody>
      </p:sp>
      <p:sp>
        <p:nvSpPr>
          <p:cNvPr id="582725802" name="Shape 24"/>
          <p:cNvSpPr/>
          <p:nvPr/>
        </p:nvSpPr>
        <p:spPr bwMode="auto">
          <a:xfrm>
            <a:off x="10332720" y="2761488"/>
            <a:ext cx="0" cy="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329775227" name="Text 25"/>
          <p:cNvSpPr/>
          <p:nvPr/>
        </p:nvSpPr>
        <p:spPr bwMode="auto">
          <a:xfrm>
            <a:off x="6355080" y="2487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15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完成事件</a:t>
            </a:r>
            <a:endParaRPr lang="en-US" sz="1150"/>
          </a:p>
        </p:txBody>
      </p:sp>
      <p:sp>
        <p:nvSpPr>
          <p:cNvPr id="1699882462" name="Text 26"/>
          <p:cNvSpPr/>
          <p:nvPr/>
        </p:nvSpPr>
        <p:spPr bwMode="auto">
          <a:xfrm>
            <a:off x="65379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等待多少、等多久,都不影响系统前进 —— 最坏是「可杀地睡着」</a:t>
            </a:r>
            <a:endParaRPr lang="en-US" sz="1200"/>
          </a:p>
        </p:txBody>
      </p:sp>
      <p:graphicFrame>
        <p:nvGraphicFramePr>
          <p:cNvPr id="157204640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4297680"/>
          <a:ext cx="658368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023360"/>
                <a:gridCol w="1188720"/>
                <a:gridCol w="1371600"/>
              </a:tblGrid>
              <a:tr h="40233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形态(A/B 背靠背)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总分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墙钟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基线(完成通知钩子分支)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2749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585.8s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排空等待(计划原稿形态)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2123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1399s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排空等待 + 撤唤醒补全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EA580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1477s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终态:per-fence + 探测 32768 轮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F76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2813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580.5s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769468781" name="Shape 27"/>
          <p:cNvSpPr/>
          <p:nvPr/>
        </p:nvSpPr>
        <p:spPr bwMode="auto">
          <a:xfrm>
            <a:off x="7315200" y="4297680"/>
            <a:ext cx="4416552" cy="1143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/>
        </p:spPr>
      </p:sp>
      <p:sp>
        <p:nvSpPr>
          <p:cNvPr id="977396400" name="Text 28"/>
          <p:cNvSpPr/>
          <p:nvPr/>
        </p:nvSpPr>
        <p:spPr bwMode="auto">
          <a:xfrm>
            <a:off x="7516368" y="440740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endParaRPr lang="en-US" sz="1150"/>
          </a:p>
        </p:txBody>
      </p:sp>
      <p:sp>
        <p:nvSpPr>
          <p:cNvPr id="1159821975" name="Shape 29"/>
          <p:cNvSpPr/>
          <p:nvPr/>
        </p:nvSpPr>
        <p:spPr bwMode="auto">
          <a:xfrm>
            <a:off x="7315200" y="5577840"/>
            <a:ext cx="4416552" cy="731520"/>
          </a:xfrm>
          <a:prstGeom prst="roundRect">
            <a:avLst>
              <a:gd name="adj" fmla="val 6875"/>
            </a:avLst>
          </a:prstGeom>
          <a:solidFill>
            <a:srgbClr val="CCFBF1"/>
          </a:solidFill>
          <a:ln/>
        </p:spPr>
      </p:sp>
      <p:sp>
        <p:nvSpPr>
          <p:cNvPr id="2054615832" name="Text 30"/>
          <p:cNvSpPr/>
          <p:nvPr/>
        </p:nvSpPr>
        <p:spPr bwMode="auto">
          <a:xfrm>
            <a:off x="7315200" y="5577840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2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两轮审查 7 条意见全修</a:t>
            </a:r>
            <a:endParaRPr lang="en-US" sz="1250"/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25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2026-10-02 合入 dev(11 提交 +574/−143)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676142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16</a:t>
            </a:r>
            <a:endParaRPr lang="en-US" sz="1200"/>
          </a:p>
        </p:txBody>
      </p:sp>
      <p:sp>
        <p:nvSpPr>
          <p:cNvPr id="602935032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14 · 代码形状</a:t>
            </a:r>
            <a:endParaRPr lang="en-US" sz="1200"/>
          </a:p>
        </p:txBody>
      </p:sp>
      <p:sp>
        <p:nvSpPr>
          <p:cNvPr id="1188014589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组件化:让同一份驱动服务所有组合</a:t>
            </a:r>
            <a:endParaRPr lang="en-US" sz="2600"/>
          </a:p>
        </p:txBody>
      </p:sp>
      <p:sp>
        <p:nvSpPr>
          <p:cNvPr id="864116824" name="Text 3"/>
          <p:cNvSpPr/>
          <p:nvPr/>
        </p:nvSpPr>
        <p:spPr bwMode="auto">
          <a:xfrm>
            <a:off x="457200" y="1207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可复用包(no_std + alloc)</a:t>
            </a:r>
            <a:endParaRPr lang="en-US" sz="1200"/>
          </a:p>
        </p:txBody>
      </p:sp>
      <p:sp>
        <p:nvSpPr>
          <p:cNvPr id="193432422" name="Shape 4"/>
          <p:cNvSpPr/>
          <p:nvPr/>
        </p:nvSpPr>
        <p:spPr bwMode="auto">
          <a:xfrm>
            <a:off x="457200" y="1517904"/>
            <a:ext cx="2697480" cy="777240"/>
          </a:xfrm>
          <a:prstGeom prst="roundRect">
            <a:avLst>
              <a:gd name="adj" fmla="val 6471"/>
            </a:avLst>
          </a:prstGeom>
          <a:solidFill>
            <a:srgbClr val="F0FDFA"/>
          </a:solidFill>
          <a:ln/>
        </p:spPr>
      </p:sp>
      <p:sp>
        <p:nvSpPr>
          <p:cNvPr id="952604476" name="Text 5"/>
          <p:cNvSpPr/>
          <p:nvPr/>
        </p:nvSpPr>
        <p:spPr bwMode="auto">
          <a:xfrm>
            <a:off x="457200" y="151790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virtio-gpu crate</a:t>
            </a:r>
            <a:endParaRPr lang="en-US" sz="1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协议 + 异步控制队列</a:t>
            </a:r>
            <a:endParaRPr lang="en-US" sz="1200"/>
          </a:p>
        </p:txBody>
      </p:sp>
      <p:sp>
        <p:nvSpPr>
          <p:cNvPr id="371350901" name="Shape 6"/>
          <p:cNvSpPr/>
          <p:nvPr/>
        </p:nvSpPr>
        <p:spPr bwMode="auto">
          <a:xfrm>
            <a:off x="457200" y="2432303"/>
            <a:ext cx="2697480" cy="777240"/>
          </a:xfrm>
          <a:prstGeom prst="roundRect">
            <a:avLst>
              <a:gd name="adj" fmla="val 6471"/>
            </a:avLst>
          </a:prstGeom>
          <a:solidFill>
            <a:srgbClr val="F0FDFA"/>
          </a:solidFill>
          <a:ln/>
        </p:spPr>
      </p:sp>
      <p:sp>
        <p:nvSpPr>
          <p:cNvPr id="363587311" name="Text 7"/>
          <p:cNvSpPr/>
          <p:nvPr/>
        </p:nvSpPr>
        <p:spPr bwMode="auto">
          <a:xfrm>
            <a:off x="457200" y="2432303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ax-driver VirtIoGpu</a:t>
            </a:r>
            <a:endParaRPr lang="en-US" sz="1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适配与 Hal 实现</a:t>
            </a:r>
            <a:endParaRPr lang="en-US" sz="1200"/>
          </a:p>
        </p:txBody>
      </p:sp>
      <p:sp>
        <p:nvSpPr>
          <p:cNvPr id="1847547219" name="Shape 8"/>
          <p:cNvSpPr/>
          <p:nvPr/>
        </p:nvSpPr>
        <p:spPr bwMode="auto">
          <a:xfrm>
            <a:off x="457200" y="3346704"/>
            <a:ext cx="2697480" cy="777240"/>
          </a:xfrm>
          <a:prstGeom prst="roundRect">
            <a:avLst>
              <a:gd name="adj" fmla="val 6471"/>
            </a:avLst>
          </a:prstGeom>
          <a:solidFill>
            <a:srgbClr val="F0FDFA"/>
          </a:solidFill>
          <a:ln/>
        </p:spPr>
      </p:sp>
      <p:sp>
        <p:nvSpPr>
          <p:cNvPr id="364279440" name="Text 9"/>
          <p:cNvSpPr/>
          <p:nvPr/>
        </p:nvSpPr>
        <p:spPr bwMode="auto">
          <a:xfrm>
            <a:off x="457200" y="334670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rdif-gpu</a:t>
            </a:r>
            <a:endParaRPr lang="en-US" sz="1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VirglOps 合同</a:t>
            </a:r>
            <a:endParaRPr lang="en-US" sz="1200"/>
          </a:p>
        </p:txBody>
      </p:sp>
      <p:sp>
        <p:nvSpPr>
          <p:cNvPr id="2091921280" name="Text 10"/>
          <p:cNvSpPr/>
          <p:nvPr/>
        </p:nvSpPr>
        <p:spPr bwMode="auto">
          <a:xfrm>
            <a:off x="4206240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跨层合同</a:t>
            </a:r>
            <a:endParaRPr lang="en-US" sz="1200"/>
          </a:p>
        </p:txBody>
      </p:sp>
      <p:sp>
        <p:nvSpPr>
          <p:cNvPr id="1409794084" name="Shape 11"/>
          <p:cNvSpPr/>
          <p:nvPr/>
        </p:nvSpPr>
        <p:spPr bwMode="auto">
          <a:xfrm>
            <a:off x="4206240" y="1975104"/>
            <a:ext cx="2651760" cy="1234440"/>
          </a:xfrm>
          <a:prstGeom prst="roundRect">
            <a:avLst>
              <a:gd name="adj" fmla="val 4074"/>
            </a:avLst>
          </a:prstGeom>
          <a:solidFill>
            <a:srgbClr val="0F172A"/>
          </a:solidFill>
          <a:ln/>
        </p:spPr>
      </p:sp>
      <p:sp>
        <p:nvSpPr>
          <p:cNvPr id="1313497101" name="Text 12"/>
          <p:cNvSpPr/>
          <p:nvPr/>
        </p:nvSpPr>
        <p:spPr bwMode="auto">
          <a:xfrm>
            <a:off x="4206240" y="1975104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50" b="1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axklib:Klib trait</a:t>
            </a:r>
            <a:endParaRPr lang="en-US" sz="125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50" b="1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mem_iomap / virt_to_phys</a:t>
            </a:r>
            <a:endParaRPr lang="en-US" sz="1250"/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50" b="1">
                <a:solidFill>
                  <a:srgbClr val="5EEAD4"/>
                </a:solidFill>
                <a:latin typeface="微软雅黑"/>
                <a:ea typeface="微软雅黑"/>
                <a:cs typeface="微软雅黑"/>
              </a:rPr>
              <a:t>时钟注入</a:t>
            </a:r>
            <a:endParaRPr lang="en-US" sz="1250"/>
          </a:p>
        </p:txBody>
      </p:sp>
      <p:sp>
        <p:nvSpPr>
          <p:cNvPr id="1643487350" name="Text 13"/>
          <p:cNvSpPr/>
          <p:nvPr/>
        </p:nvSpPr>
        <p:spPr bwMode="auto">
          <a:xfrm>
            <a:off x="7498080" y="1207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OS 适配层(贴近内核)</a:t>
            </a:r>
            <a:endParaRPr lang="en-US" sz="1200"/>
          </a:p>
        </p:txBody>
      </p:sp>
      <p:sp>
        <p:nvSpPr>
          <p:cNvPr id="1776512109" name="Shape 14"/>
          <p:cNvSpPr/>
          <p:nvPr/>
        </p:nvSpPr>
        <p:spPr bwMode="auto">
          <a:xfrm>
            <a:off x="7498080" y="1517904"/>
            <a:ext cx="4233672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1430430136" name="Text 15"/>
          <p:cNvSpPr/>
          <p:nvPr/>
        </p:nvSpPr>
        <p:spPr bwMode="auto">
          <a:xfrm>
            <a:off x="7498080" y="1517904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axruntime KlibImpl</a:t>
            </a:r>
            <a:endParaRPr lang="en-US" sz="1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经 axmm / axhal 实现</a:t>
            </a:r>
            <a:endParaRPr lang="en-US" sz="1200"/>
          </a:p>
        </p:txBody>
      </p:sp>
      <p:sp>
        <p:nvSpPr>
          <p:cNvPr id="1410232219" name="Shape 16"/>
          <p:cNvSpPr/>
          <p:nvPr/>
        </p:nvSpPr>
        <p:spPr bwMode="auto">
          <a:xfrm>
            <a:off x="7498080" y="2432303"/>
            <a:ext cx="4233672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1629925917" name="Text 17"/>
          <p:cNvSpPr/>
          <p:nvPr/>
        </p:nvSpPr>
        <p:spPr bwMode="auto">
          <a:xfrm>
            <a:off x="7498080" y="2432303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axgpu 门面</a:t>
            </a:r>
            <a:endParaRPr lang="en-US" sz="1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with_gpu / wait_completion</a:t>
            </a:r>
            <a:endParaRPr lang="en-US" sz="1200"/>
          </a:p>
        </p:txBody>
      </p:sp>
      <p:sp>
        <p:nvSpPr>
          <p:cNvPr id="212506775" name="Shape 18"/>
          <p:cNvSpPr/>
          <p:nvPr/>
        </p:nvSpPr>
        <p:spPr bwMode="auto">
          <a:xfrm>
            <a:off x="7498080" y="3346704"/>
            <a:ext cx="4233672" cy="777240"/>
          </a:xfrm>
          <a:prstGeom prst="roundRect">
            <a:avLst>
              <a:gd name="adj" fmla="val 6471"/>
            </a:avLst>
          </a:prstGeom>
          <a:solidFill>
            <a:srgbClr val="F8FAFC"/>
          </a:solidFill>
          <a:ln/>
        </p:spPr>
      </p:sp>
      <p:sp>
        <p:nvSpPr>
          <p:cNvPr id="733431708" name="Text 19"/>
          <p:cNvSpPr/>
          <p:nvPr/>
        </p:nvSpPr>
        <p:spPr bwMode="auto">
          <a:xfrm>
            <a:off x="7498080" y="3346704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card0(DRM UAPI)</a:t>
            </a:r>
            <a:endParaRPr lang="en-US" sz="1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errno 对齐</a:t>
            </a:r>
            <a:endParaRPr lang="en-US" sz="1200"/>
          </a:p>
        </p:txBody>
      </p:sp>
      <p:sp>
        <p:nvSpPr>
          <p:cNvPr id="852256713" name="Shape 20"/>
          <p:cNvSpPr/>
          <p:nvPr/>
        </p:nvSpPr>
        <p:spPr bwMode="auto">
          <a:xfrm>
            <a:off x="3172968" y="2743200"/>
            <a:ext cx="1014984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dash"/>
            <a:tailEnd type="triangle"/>
          </a:ln>
        </p:spPr>
      </p:sp>
      <p:sp>
        <p:nvSpPr>
          <p:cNvPr id="1370079735" name="Text 21"/>
          <p:cNvSpPr/>
          <p:nvPr/>
        </p:nvSpPr>
        <p:spPr bwMode="auto">
          <a:xfrm>
            <a:off x="3127248" y="2103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只依赖</a:t>
            </a:r>
            <a:endParaRPr lang="en-US" sz="1100"/>
          </a:p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00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trait</a:t>
            </a:r>
            <a:endParaRPr lang="en-US" sz="1100"/>
          </a:p>
        </p:txBody>
      </p:sp>
      <p:sp>
        <p:nvSpPr>
          <p:cNvPr id="762664764" name="Shape 22"/>
          <p:cNvSpPr/>
          <p:nvPr/>
        </p:nvSpPr>
        <p:spPr bwMode="auto">
          <a:xfrm>
            <a:off x="7479792" y="2212848"/>
            <a:ext cx="0" cy="256032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842169144" name="Text 23"/>
          <p:cNvSpPr/>
          <p:nvPr/>
        </p:nvSpPr>
        <p:spPr bwMode="auto">
          <a:xfrm>
            <a:off x="6903720" y="181051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提供</a:t>
            </a:r>
            <a:endParaRPr lang="en-US" sz="1100"/>
          </a:p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100" b="1">
                <a:solidFill>
                  <a:srgbClr val="EA580C"/>
                </a:solidFill>
                <a:latin typeface="微软雅黑"/>
                <a:ea typeface="微软雅黑"/>
                <a:cs typeface="微软雅黑"/>
              </a:rPr>
              <a:t>实现</a:t>
            </a:r>
            <a:endParaRPr lang="en-US" sz="1100"/>
          </a:p>
        </p:txBody>
      </p:sp>
      <p:sp>
        <p:nvSpPr>
          <p:cNvPr id="1986006824" name="Text 24"/>
          <p:cNvSpPr/>
          <p:nvPr/>
        </p:nvSpPr>
        <p:spPr bwMode="auto">
          <a:xfrm>
            <a:off x="4206240" y="3310127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时钟注入:monotonic_nanos</a:t>
            </a:r>
            <a:endParaRPr lang="en-US" sz="1150"/>
          </a:p>
        </p:txBody>
      </p:sp>
      <p:sp>
        <p:nvSpPr>
          <p:cNvPr id="698819747" name="Shape 25"/>
          <p:cNvSpPr/>
          <p:nvPr/>
        </p:nvSpPr>
        <p:spPr bwMode="auto">
          <a:xfrm>
            <a:off x="457200" y="4434840"/>
            <a:ext cx="2734056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560692069" name="Text 26"/>
          <p:cNvSpPr/>
          <p:nvPr/>
        </p:nvSpPr>
        <p:spPr bwMode="auto">
          <a:xfrm>
            <a:off x="64008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Completion #[must_use]</a:t>
            </a:r>
            <a:endParaRPr lang="en-US" sz="1250"/>
          </a:p>
        </p:txBody>
      </p:sp>
      <p:sp>
        <p:nvSpPr>
          <p:cNvPr id="40053003" name="Text 27"/>
          <p:cNvSpPr/>
          <p:nvPr/>
        </p:nvSpPr>
        <p:spPr bwMode="auto">
          <a:xfrm>
            <a:off x="640080" y="4919471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丢弃令牌 = 编译错误,强制观察每次 fenced 释放</a:t>
            </a:r>
            <a:endParaRPr lang="en-US" sz="1150"/>
          </a:p>
        </p:txBody>
      </p:sp>
      <p:sp>
        <p:nvSpPr>
          <p:cNvPr id="180170688" name="Shape 28"/>
          <p:cNvSpPr/>
          <p:nvPr/>
        </p:nvSpPr>
        <p:spPr bwMode="auto">
          <a:xfrm>
            <a:off x="3300984" y="4434840"/>
            <a:ext cx="2734056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949119475" name="Text 29"/>
          <p:cNvSpPr/>
          <p:nvPr/>
        </p:nvSpPr>
        <p:spPr bwMode="auto">
          <a:xfrm>
            <a:off x="3483864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require_virgl() 门控</a:t>
            </a:r>
            <a:endParaRPr lang="en-US" sz="1250"/>
          </a:p>
        </p:txBody>
      </p:sp>
      <p:sp>
        <p:nvSpPr>
          <p:cNvPr id="604311075" name="Text 30"/>
          <p:cNvSpPr/>
          <p:nvPr/>
        </p:nvSpPr>
        <p:spPr bwMode="auto">
          <a:xfrm>
            <a:off x="3483864" y="4919471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能力未协商即域错误,不发未定义命令</a:t>
            </a:r>
            <a:endParaRPr lang="en-US" sz="1150"/>
          </a:p>
        </p:txBody>
      </p:sp>
      <p:sp>
        <p:nvSpPr>
          <p:cNvPr id="783339766" name="Shape 31"/>
          <p:cNvSpPr/>
          <p:nvPr/>
        </p:nvSpPr>
        <p:spPr bwMode="auto">
          <a:xfrm>
            <a:off x="6144768" y="4434840"/>
            <a:ext cx="2734056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348328878" name="Text 32"/>
          <p:cNvSpPr/>
          <p:nvPr/>
        </p:nvSpPr>
        <p:spPr bwMode="auto">
          <a:xfrm>
            <a:off x="6327648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has_display_controller()</a:t>
            </a:r>
            <a:endParaRPr lang="en-US" sz="1250"/>
          </a:p>
        </p:txBody>
      </p:sp>
      <p:sp>
        <p:nvSpPr>
          <p:cNvPr id="1572927481" name="Text 33"/>
          <p:cNvSpPr/>
          <p:nvPr/>
        </p:nvSpPr>
        <p:spPr bwMode="auto">
          <a:xfrm>
            <a:off x="6327648" y="4919471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无 GPU 配置不 panic —— 节点存在 ≠ 设备存在</a:t>
            </a:r>
            <a:endParaRPr lang="en-US" sz="1150"/>
          </a:p>
        </p:txBody>
      </p:sp>
      <p:sp>
        <p:nvSpPr>
          <p:cNvPr id="961547130" name="Shape 34"/>
          <p:cNvSpPr/>
          <p:nvPr/>
        </p:nvSpPr>
        <p:spPr bwMode="auto">
          <a:xfrm>
            <a:off x="8988552" y="4434840"/>
            <a:ext cx="2734056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2700000" sx="100000" sy="100000" kx="0" ky="0" algn="bl" rotWithShape="0">
              <a:srgbClr val="0F172A">
                <a:alpha val="13000"/>
              </a:srgbClr>
            </a:outerShdw>
          </a:effectLst>
        </p:spPr>
      </p:sp>
      <p:sp>
        <p:nvSpPr>
          <p:cNvPr id="1337778017" name="Text 35"/>
          <p:cNvSpPr/>
          <p:nvPr/>
        </p:nvSpPr>
        <p:spPr bwMode="auto">
          <a:xfrm>
            <a:off x="9171432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errno 对齐</a:t>
            </a:r>
            <a:endParaRPr lang="en-US" sz="1250"/>
          </a:p>
        </p:txBody>
      </p:sp>
      <p:sp>
        <p:nvSpPr>
          <p:cNvPr id="836787685" name="Text 36"/>
          <p:cNvSpPr/>
          <p:nvPr/>
        </p:nvSpPr>
        <p:spPr bwMode="auto">
          <a:xfrm>
            <a:off x="9171432" y="4919471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NotReady→EAGAIN · TimedOut→ETIMEDOUT</a:t>
            </a:r>
            <a:endParaRPr lang="en-US" sz="1150"/>
          </a:p>
        </p:txBody>
      </p:sp>
      <p:sp>
        <p:nvSpPr>
          <p:cNvPr id="2024104029" name="Text 37"/>
          <p:cNvSpPr/>
          <p:nvPr/>
        </p:nvSpPr>
        <p:spPr bwMode="auto"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收益:纯 2D CI、无 GPU 配置与 3D 全功能路径共用同一份驱动代码;三次大规模上游重构的迁移成本被合同收敛在少数几个文件里。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68393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17</a:t>
            </a:r>
            <a:endParaRPr lang="en-US" sz="1200"/>
          </a:p>
        </p:txBody>
      </p:sp>
      <p:sp>
        <p:nvSpPr>
          <p:cNvPr id="31135201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15 · 成果</a:t>
            </a:r>
            <a:endParaRPr lang="en-US" sz="1200"/>
          </a:p>
        </p:txBody>
      </p:sp>
      <p:sp>
        <p:nvSpPr>
          <p:cNvPr id="1646466225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性能轨迹与提交清单</a:t>
            </a:r>
            <a:endParaRPr lang="en-US" sz="2600"/>
          </a:p>
        </p:txBody>
      </p:sp>
      <p:graphicFrame>
        <p:nvGraphicFramePr>
          <p:cNvPr id="587962555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325880"/>
          <a:ext cx="6720840" cy="4160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7401143" name="Text 3"/>
          <p:cNvSpPr/>
          <p:nvPr/>
        </p:nvSpPr>
        <p:spPr bwMode="auto">
          <a:xfrm>
            <a:off x="457200" y="56235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混合口径:第 7 项为 offscreen FPS,第 8–10 项为 texture 单场景 FPS,其余为套件总分;rebase 跳变来自上游新底座自身改进,3040 与 2813 的差异 = 宿主状态与场景波动(意义在稳定性)。</a:t>
            </a:r>
            <a:endParaRPr lang="en-US" sz="1150"/>
          </a:p>
        </p:txBody>
      </p:sp>
      <p:graphicFrame>
        <p:nvGraphicFramePr>
          <p:cNvPr id="15979367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7406640" y="1325880"/>
          <a:ext cx="4325112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136392"/>
                <a:gridCol w="1188720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拉取请求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  <a:endParaRPr lang="en-US" sz="12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tgoskits #1415 · doom 测试+DRM 修复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合入 07-08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virtio-drivers #257 · 3D/blob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合入 08-14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virtio-drivers #258 · 清理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合入 08-17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tgoskits #2483 · 同步版集成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合入 09-22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tgoskits #2536 · 异步+真 fence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合入 09-29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tgoskits #2557 · 锁外等待改造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F766E"/>
                          </a:solidFill>
                          <a:latin typeface="Consolas"/>
                          <a:ea typeface="Consolas"/>
                          <a:cs typeface="Consolas"/>
                        </a:rPr>
                        <a:t>合入 10-02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EA580C"/>
                          </a:solidFill>
                          <a:latin typeface="Consolas"/>
                          <a:ea typeface="Consolas"/>
                          <a:cs typeface="Consolas"/>
                        </a:rPr>
                        <a:t>virtio-drivers #265 · 异步队列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A580C"/>
                          </a:solidFill>
                          <a:latin typeface="Consolas"/>
                          <a:ea typeface="Consolas"/>
                          <a:cs typeface="Consolas"/>
                        </a:rPr>
                        <a:t>开放</a:t>
                      </a:r>
                      <a:endParaRPr lang="en-US" sz="12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6657940" name="Text 4"/>
          <p:cNvSpPr/>
          <p:nvPr/>
        </p:nvSpPr>
        <p:spPr bwMode="auto">
          <a:xfrm>
            <a:off x="7406640" y="5349240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7 个拉取请求 · 6 合入 1 开放;13 个功能/优化提交进入主线。</a:t>
            </a:r>
            <a:endParaRPr lang="en-US" sz="1200"/>
          </a:p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测量资产与 virgl-test 应用沉淀在仓库内,既是验收工具也是回归门禁。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529862" name="Text 0"/>
          <p:cNvSpPr/>
          <p:nvPr/>
        </p:nvSpPr>
        <p:spPr bwMode="auto"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18</a:t>
            </a:r>
            <a:endParaRPr lang="en-US" sz="1200"/>
          </a:p>
        </p:txBody>
      </p:sp>
      <p:sp>
        <p:nvSpPr>
          <p:cNvPr id="981705333" name="Text 1"/>
          <p:cNvSpPr/>
          <p:nvPr/>
        </p:nvSpPr>
        <p:spPr bwMode="auto"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4B8A6"/>
                </a:solidFill>
                <a:latin typeface="微软雅黑"/>
                <a:ea typeface="微软雅黑"/>
                <a:cs typeface="微软雅黑"/>
              </a:rPr>
              <a:t>16 · 边界</a:t>
            </a:r>
            <a:endParaRPr lang="en-US" sz="1200"/>
          </a:p>
        </p:txBody>
      </p:sp>
      <p:sp>
        <p:nvSpPr>
          <p:cNvPr id="1984983467" name="Text 2"/>
          <p:cNvSpPr/>
          <p:nvPr/>
        </p:nvSpPr>
        <p:spPr bwMode="auto"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如实声明:未完成与后续工作</a:t>
            </a:r>
            <a:endParaRPr lang="en-US" sz="2600"/>
          </a:p>
        </p:txBody>
      </p:sp>
      <p:sp>
        <p:nvSpPr>
          <p:cNvPr id="337209778" name="Shape 3"/>
          <p:cNvSpPr/>
          <p:nvPr/>
        </p:nvSpPr>
        <p:spPr bwMode="auto">
          <a:xfrm>
            <a:off x="457200" y="1417320"/>
            <a:ext cx="11274552" cy="1024128"/>
          </a:xfrm>
          <a:prstGeom prst="roundRect">
            <a:avLst>
              <a:gd name="adj" fmla="val 4911"/>
            </a:avLst>
          </a:prstGeom>
          <a:solidFill>
            <a:srgbClr val="F8FAFC"/>
          </a:solidFill>
          <a:ln/>
        </p:spPr>
      </p:sp>
      <p:sp>
        <p:nvSpPr>
          <p:cNvPr id="802652133" name="Text 4"/>
          <p:cNvSpPr/>
          <p:nvPr/>
        </p:nvSpPr>
        <p:spPr bwMode="auto">
          <a:xfrm>
            <a:off x="713232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01</a:t>
            </a:r>
            <a:endParaRPr lang="en-US" sz="2200"/>
          </a:p>
        </p:txBody>
      </p:sp>
      <p:sp>
        <p:nvSpPr>
          <p:cNvPr id="940683357" name="Text 5"/>
          <p:cNvSpPr/>
          <p:nvPr/>
        </p:nvSpPr>
        <p:spPr bwMode="auto">
          <a:xfrm>
            <a:off x="1508759" y="15453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#265(上游 crate)待合入</a:t>
            </a:r>
            <a:endParaRPr lang="en-US" sz="1500"/>
          </a:p>
        </p:txBody>
      </p:sp>
      <p:sp>
        <p:nvSpPr>
          <p:cNvPr id="707706263" name="Text 6"/>
          <p:cNvSpPr/>
          <p:nvPr/>
        </p:nvSpPr>
        <p:spPr bwMode="auto">
          <a:xfrm>
            <a:off x="1508759" y="1947671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texfix 12 轮 + 40 轮全套件浸泡未跑;Phase 3 两决策项(在飞窗口 / 完成回调收割)由 soak 数据触发</a:t>
            </a:r>
            <a:endParaRPr lang="en-US" sz="1250"/>
          </a:p>
        </p:txBody>
      </p:sp>
      <p:sp>
        <p:nvSpPr>
          <p:cNvPr id="299942181" name="Shape 7"/>
          <p:cNvSpPr/>
          <p:nvPr/>
        </p:nvSpPr>
        <p:spPr bwMode="auto">
          <a:xfrm>
            <a:off x="457200" y="2587752"/>
            <a:ext cx="11274552" cy="1024128"/>
          </a:xfrm>
          <a:prstGeom prst="roundRect">
            <a:avLst>
              <a:gd name="adj" fmla="val 4911"/>
            </a:avLst>
          </a:prstGeom>
          <a:solidFill>
            <a:srgbClr val="F0FDFA"/>
          </a:solidFill>
          <a:ln/>
        </p:spPr>
      </p:sp>
      <p:sp>
        <p:nvSpPr>
          <p:cNvPr id="1999970652" name="Text 8"/>
          <p:cNvSpPr/>
          <p:nvPr/>
        </p:nvSpPr>
        <p:spPr bwMode="auto">
          <a:xfrm>
            <a:off x="713232" y="2862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EA580C"/>
                </a:solidFill>
                <a:latin typeface="Consolas"/>
                <a:ea typeface="Consolas"/>
                <a:cs typeface="Consolas"/>
              </a:rPr>
              <a:t>02</a:t>
            </a:r>
            <a:endParaRPr lang="en-US" sz="2200"/>
          </a:p>
        </p:txBody>
      </p:sp>
      <p:sp>
        <p:nvSpPr>
          <p:cNvPr id="1423611264" name="Text 9"/>
          <p:cNvSpPr/>
          <p:nvPr/>
        </p:nvSpPr>
        <p:spPr bwMode="auto">
          <a:xfrm>
            <a:off x="1508759" y="27157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剩余约 2× 性能差距</a:t>
            </a:r>
            <a:endParaRPr lang="en-US" sz="1500"/>
          </a:p>
        </p:txBody>
      </p:sp>
      <p:sp>
        <p:nvSpPr>
          <p:cNvPr id="1775780531" name="Text 10"/>
          <p:cNvSpPr/>
          <p:nvPr/>
        </p:nvSpPr>
        <p:spPr bwMode="auto">
          <a:xfrm>
            <a:off x="1508759" y="31181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主战场 = syscall 入口税(7.9×)+ socket 单价(24.8×)—— 内核级问题,影响所有系统调用,需单独立项</a:t>
            </a:r>
            <a:endParaRPr lang="en-US" sz="1250"/>
          </a:p>
        </p:txBody>
      </p:sp>
      <p:sp>
        <p:nvSpPr>
          <p:cNvPr id="1391833307" name="Shape 15"/>
          <p:cNvSpPr/>
          <p:nvPr/>
        </p:nvSpPr>
        <p:spPr bwMode="auto">
          <a:xfrm>
            <a:off x="457200" y="3758184"/>
            <a:ext cx="11274552" cy="1024128"/>
          </a:xfrm>
          <a:prstGeom prst="roundRect">
            <a:avLst>
              <a:gd name="adj" fmla="val 4911"/>
            </a:avLst>
          </a:prstGeom>
          <a:solidFill>
            <a:srgbClr val="F8FAFC"/>
          </a:solidFill>
          <a:ln/>
        </p:spPr>
      </p:sp>
      <p:sp>
        <p:nvSpPr>
          <p:cNvPr id="710484410" name="Text 16"/>
          <p:cNvSpPr/>
          <p:nvPr/>
        </p:nvSpPr>
        <p:spPr bwMode="auto">
          <a:xfrm>
            <a:off x="713232" y="40325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4B8A6"/>
                </a:solidFill>
                <a:latin typeface="Consolas"/>
                <a:ea typeface="Consolas"/>
                <a:cs typeface="Consolas"/>
              </a:rPr>
              <a:t>03</a:t>
            </a:r>
            <a:endParaRPr lang="en-US" sz="2200"/>
          </a:p>
        </p:txBody>
      </p:sp>
      <p:sp>
        <p:nvSpPr>
          <p:cNvPr id="307202986" name="Text 17"/>
          <p:cNvSpPr/>
          <p:nvPr/>
        </p:nvSpPr>
        <p:spPr bwMode="auto">
          <a:xfrm>
            <a:off x="1508759" y="3886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多架构验证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078083" name="Text 12"/>
          <p:cNvSpPr/>
          <p:nvPr/>
        </p:nvSpPr>
        <p:spPr bwMode="auto">
          <a:xfrm>
            <a:off x="457200" y="27889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谢谢大家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Arial"/>
        <a:cs typeface="Arial"/>
      </a:majorFont>
      <a:minorFont>
        <a:latin typeface="微软雅黑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ONLYOFFICE/9.4.0.0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 StarryOS 上实现虚拟化 GPU 3D 加速——实习答辩</dc:title>
  <dc:subject>PptxGenJS Presentation</dc:subject>
  <dc:creator>周宇聪</dc:creator>
  <cp:lastModifiedBy/>
  <cp:revision>2</cp:revision>
  <dcterms:created xsi:type="dcterms:W3CDTF">2026-10-02T10:56:44Z</dcterms:created>
  <dcterms:modified xsi:type="dcterms:W3CDTF">2026-10-04T07:48:10Z</dcterms:modified>
</cp:coreProperties>
</file>